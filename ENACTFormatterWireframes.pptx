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78" r:id="rId3"/>
    <p:sldId id="279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6" r:id="rId13"/>
    <p:sldId id="277" r:id="rId14"/>
    <p:sldId id="275" r:id="rId15"/>
    <p:sldId id="272" r:id="rId16"/>
    <p:sldId id="273" r:id="rId17"/>
    <p:sldId id="274" r:id="rId18"/>
    <p:sldId id="271" r:id="rId19"/>
    <p:sldId id="260" r:id="rId20"/>
    <p:sldId id="261" r:id="rId21"/>
    <p:sldId id="2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801D9B-C424-4E58-BCED-781FBDB4175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1BE08-7DE6-4BE6-995B-82E0A80A9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90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3217-402C-283E-189C-82EFF3D5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5F419-2D52-CAAE-CF97-3428E9D97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28F85-8B56-3CF1-231C-EF93B312D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42443-A2E1-D916-7EB6-A5331D621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1BE08-7DE6-4BE6-995B-82E0A80A9C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6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ABA8-C0CD-8565-504B-28D458BE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42116-336B-7D2E-3AD5-7AF1962E0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D401E-1642-26F4-0A19-2ADB4B33D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05E3-E043-FFD1-9EC1-49C9DFCC9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1BE08-7DE6-4BE6-995B-82E0A80A9C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8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1BE08-7DE6-4BE6-995B-82E0A80A9C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1BE08-7DE6-4BE6-995B-82E0A80A9C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83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B3D9-0077-1A65-393F-50D398000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C6FFC-FDA5-7FFF-1161-95C3A63C7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74E5-5AD8-1897-2326-168BC07F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69C45-0B87-4677-50CD-3C88AE4C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55BD2-0A9B-A9F1-303D-FFAF9851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7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0404-45E4-11A8-50A3-05340ED9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4FF93-524D-9346-940D-17064E250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5B897-BBD4-B73D-4947-2E517A65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85031-10B1-31BC-EB47-1AE8D834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C1F0E-A3C7-E4B1-4407-D9030A54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58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4921-4C3C-C9FE-EBDA-01397A8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6E6C3-5EE8-F767-92D2-5AE9EBC96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4852A-3FD5-B373-B6C4-9973B9FF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C6DD6-C14B-AB21-A440-2AAD0C48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BDC43-F35F-6CB9-D5AB-57DAE814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5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1563-00EB-CFF4-B59D-FD0F906B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0E92C-60D3-F7DE-5990-642BD3311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2B451-DC44-1BD7-7A3A-91C75F8A9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32749-D088-1AA8-A135-CDADC57D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9F134-B204-D8D2-A0C8-A5C7B35C9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08C94-ACAD-DE2F-E8FB-A45CA547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35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82D9-7044-F6B1-2CB0-437B444BD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85038-A518-EB4C-7695-831A31C5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71C8A-40B0-A6B0-8570-85C389482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C835E-E9CA-5822-DE14-B022AC00A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FF3548-E9AB-8CDB-5DAF-3C936510C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D5F996-2682-910B-BC7F-2397E7B0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EE29F-101C-FDD3-D841-DEE68F6A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4EA29-D68F-E095-A242-A79BD72A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1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45D42-F782-E98D-38B0-7641BF9B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084A1-45F3-8D48-A787-6DC908B5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F2EF6-327A-FEB0-AF8B-3ADFA08A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FAD60-2CE9-C156-BCF4-7227C80E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4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103B7-906C-4129-A33F-FD3810D4D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76775-BA96-A5F2-A418-6316724D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DACA8-61F1-BD84-E2F1-6EF3FA3A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8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2EFD-8694-15A0-21A6-FD369338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3D50C-DCB7-7AEF-5284-E7A09C4A5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AFC51-18FA-0850-5E84-0297FA52F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14153-8B1D-4143-024C-F826551A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1E57B-E2EB-E743-5542-2EE2A4F7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65E19-A522-180D-2ADB-4E93FCE3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70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3039-E6AA-6AD7-78FB-2758D3DA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0676B3-4149-2837-3AD3-9744B7491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680B1-50AA-40E4-D79B-0959E7EA0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7315-12F9-13F1-D8C3-C18E9C3E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4A15A-64AF-F679-C12B-F4B78020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7BE30-028E-A585-75D3-0CC6018B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1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5BD7-9A9A-0064-5CC1-4602CD7F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06FDC-5006-6C54-585A-B43F9E31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9A192-ABD0-7E5B-3601-40E75FE3E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0A479-E768-B5C8-9126-14F30AE6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BE50-2480-6ECA-EA5C-AAEC8F831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1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5BE26-1DE0-1421-745E-AF21025DE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BE488-916D-FA8A-1B65-544A8208A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F320-F468-D982-0992-31FE4AC2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63BA9-D1B5-6F59-C2D0-01DF653D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7B8D4-8374-3821-4552-17A39389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0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C88A0-C7E0-E620-20EE-407D857F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10E28-7162-D3DB-BC83-1FC91F0EF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B1AB7-4318-3E2F-B412-07A36918E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79D7B-501F-45D7-854F-5B2CFDFC8F1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D7337-A599-408A-9F04-58EF4941F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45411-B61B-AD68-B1BF-36A29ECFD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7BE07-4361-4B96-AEF5-8687ACBAC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8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3481-EF64-8586-128E-A8E5741E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by two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532EE-0366-765C-76E5-FCFFBA18A177}"/>
              </a:ext>
            </a:extLst>
          </p:cNvPr>
          <p:cNvSpPr txBox="1"/>
          <p:nvPr/>
        </p:nvSpPr>
        <p:spPr>
          <a:xfrm>
            <a:off x="2474794" y="2870140"/>
            <a:ext cx="907236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Label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83B0C-F45A-FE0F-1B14-457E41E5D337}"/>
              </a:ext>
            </a:extLst>
          </p:cNvPr>
          <p:cNvSpPr txBox="1"/>
          <p:nvPr/>
        </p:nvSpPr>
        <p:spPr>
          <a:xfrm>
            <a:off x="3682308" y="2525762"/>
            <a:ext cx="1959191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Query csv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5FB43-FEC6-79D8-9B68-80B55B596774}"/>
              </a:ext>
            </a:extLst>
          </p:cNvPr>
          <p:cNvSpPr txBox="1"/>
          <p:nvPr/>
        </p:nvSpPr>
        <p:spPr>
          <a:xfrm>
            <a:off x="5941778" y="1984039"/>
            <a:ext cx="1959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Label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8298A-C18D-A6FE-18A0-C10B8305FAF6}"/>
              </a:ext>
            </a:extLst>
          </p:cNvPr>
          <p:cNvSpPr txBox="1"/>
          <p:nvPr/>
        </p:nvSpPr>
        <p:spPr>
          <a:xfrm>
            <a:off x="2462861" y="4127594"/>
            <a:ext cx="91916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Label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EEA3FC-2FEF-A94C-5A56-546FC11511F2}"/>
              </a:ext>
            </a:extLst>
          </p:cNvPr>
          <p:cNvSpPr txBox="1"/>
          <p:nvPr/>
        </p:nvSpPr>
        <p:spPr>
          <a:xfrm>
            <a:off x="3682308" y="2024335"/>
            <a:ext cx="1959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Label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5845BB-A726-7893-2936-E6DEBF5DA9F5}"/>
              </a:ext>
            </a:extLst>
          </p:cNvPr>
          <p:cNvSpPr txBox="1"/>
          <p:nvPr/>
        </p:nvSpPr>
        <p:spPr>
          <a:xfrm>
            <a:off x="3682308" y="5994400"/>
            <a:ext cx="4685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List sites included in the aggregate numbers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44B337-CD8B-E55F-8DBE-98E638E2AF70}"/>
              </a:ext>
            </a:extLst>
          </p:cNvPr>
          <p:cNvSpPr txBox="1"/>
          <p:nvPr/>
        </p:nvSpPr>
        <p:spPr>
          <a:xfrm>
            <a:off x="3682308" y="3929219"/>
            <a:ext cx="1959191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Query csv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D60FBF-8B8A-1E68-EE9A-614C841E78C8}"/>
              </a:ext>
            </a:extLst>
          </p:cNvPr>
          <p:cNvSpPr txBox="1"/>
          <p:nvPr/>
        </p:nvSpPr>
        <p:spPr>
          <a:xfrm>
            <a:off x="5941776" y="3904465"/>
            <a:ext cx="1959191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Query csv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2E2C16-FF3E-2DBE-AE88-FB1DFA1BB83F}"/>
              </a:ext>
            </a:extLst>
          </p:cNvPr>
          <p:cNvSpPr txBox="1"/>
          <p:nvPr/>
        </p:nvSpPr>
        <p:spPr>
          <a:xfrm>
            <a:off x="5941777" y="2542004"/>
            <a:ext cx="1959191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Query csv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97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46EA-C27B-A003-E735-4F33533C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1A17F-F877-FA18-7B84-485391EA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402692"/>
            <a:ext cx="10515600" cy="597314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builder – manual demographics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B33FB5-67A4-587E-CBA0-0BEB0655A723}"/>
              </a:ext>
            </a:extLst>
          </p:cNvPr>
          <p:cNvGrpSpPr/>
          <p:nvPr/>
        </p:nvGrpSpPr>
        <p:grpSpPr>
          <a:xfrm>
            <a:off x="174455" y="1130255"/>
            <a:ext cx="3578025" cy="3114609"/>
            <a:chOff x="448775" y="1130255"/>
            <a:chExt cx="3578025" cy="31146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DAAB8E-73F2-E8D8-86EE-10E1CCEC5B43}"/>
                </a:ext>
              </a:extLst>
            </p:cNvPr>
            <p:cNvSpPr txBox="1"/>
            <p:nvPr/>
          </p:nvSpPr>
          <p:spPr>
            <a:xfrm>
              <a:off x="532156" y="2108631"/>
              <a:ext cx="1959191" cy="27699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Demographic Breakdown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D10C17-2538-A4C4-BDAE-4F0AC17C06EA}"/>
                </a:ext>
              </a:extLst>
            </p:cNvPr>
            <p:cNvSpPr txBox="1"/>
            <p:nvPr/>
          </p:nvSpPr>
          <p:spPr>
            <a:xfrm>
              <a:off x="2668603" y="2108630"/>
              <a:ext cx="1358197" cy="276999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Demographic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1FE72D-8194-449D-C03F-E4F92F1A2983}"/>
                </a:ext>
              </a:extLst>
            </p:cNvPr>
            <p:cNvSpPr txBox="1"/>
            <p:nvPr/>
          </p:nvSpPr>
          <p:spPr>
            <a:xfrm>
              <a:off x="509360" y="3019753"/>
              <a:ext cx="908465" cy="276999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Charlson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4A6CE4-3371-C8CF-08B5-C62D35BA8227}"/>
                </a:ext>
              </a:extLst>
            </p:cNvPr>
            <p:cNvSpPr txBox="1"/>
            <p:nvPr/>
          </p:nvSpPr>
          <p:spPr>
            <a:xfrm>
              <a:off x="1576516" y="3001228"/>
              <a:ext cx="951283" cy="27699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Elixhauser</a:t>
              </a:r>
              <a:endParaRPr lang="en-US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6173C3-1E8B-36CF-EEF9-F97BF65738FB}"/>
                </a:ext>
              </a:extLst>
            </p:cNvPr>
            <p:cNvSpPr txBox="1"/>
            <p:nvPr/>
          </p:nvSpPr>
          <p:spPr>
            <a:xfrm>
              <a:off x="2686962" y="2995096"/>
              <a:ext cx="951283" cy="276999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None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0FCF0F-53A6-9C82-6767-F1A92C5F9A25}"/>
                </a:ext>
              </a:extLst>
            </p:cNvPr>
            <p:cNvSpPr txBox="1"/>
            <p:nvPr/>
          </p:nvSpPr>
          <p:spPr>
            <a:xfrm>
              <a:off x="502228" y="1130255"/>
              <a:ext cx="1959191" cy="27699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Number Columns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89BD1D-6A4C-FEB6-100A-453C1B64C676}"/>
                </a:ext>
              </a:extLst>
            </p:cNvPr>
            <p:cNvSpPr txBox="1"/>
            <p:nvPr/>
          </p:nvSpPr>
          <p:spPr>
            <a:xfrm>
              <a:off x="520335" y="3967865"/>
              <a:ext cx="897490" cy="276999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Add Group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C735883-242B-C3F2-868C-278C8CA09CB7}"/>
                </a:ext>
              </a:extLst>
            </p:cNvPr>
            <p:cNvSpPr txBox="1"/>
            <p:nvPr/>
          </p:nvSpPr>
          <p:spPr>
            <a:xfrm>
              <a:off x="1911734" y="1137320"/>
              <a:ext cx="280846" cy="307777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D0087D-1843-8491-F68B-0E96F1AD001C}"/>
                </a:ext>
              </a:extLst>
            </p:cNvPr>
            <p:cNvSpPr txBox="1"/>
            <p:nvPr/>
          </p:nvSpPr>
          <p:spPr>
            <a:xfrm>
              <a:off x="509360" y="1719551"/>
              <a:ext cx="17815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Demographic</a:t>
              </a:r>
              <a:r>
                <a:rPr lang="en-US" sz="1400" b="1" dirty="0"/>
                <a:t> options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E37AE4-CF47-749D-BE18-50DA0C0E3588}"/>
                </a:ext>
              </a:extLst>
            </p:cNvPr>
            <p:cNvSpPr txBox="1"/>
            <p:nvPr/>
          </p:nvSpPr>
          <p:spPr>
            <a:xfrm>
              <a:off x="448775" y="2629604"/>
              <a:ext cx="2204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Comorbid  Condition options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44375A-4F16-D628-D67F-024D14699999}"/>
                </a:ext>
              </a:extLst>
            </p:cNvPr>
            <p:cNvSpPr txBox="1"/>
            <p:nvPr/>
          </p:nvSpPr>
          <p:spPr>
            <a:xfrm>
              <a:off x="448775" y="3571381"/>
              <a:ext cx="2868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Additional Variables</a:t>
              </a:r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72EA139-2194-F34A-982A-849E81725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005020"/>
              </p:ext>
            </p:extLst>
          </p:nvPr>
        </p:nvGraphicFramePr>
        <p:xfrm>
          <a:off x="8657364" y="1445097"/>
          <a:ext cx="2010178" cy="48717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698">
                  <a:extLst>
                    <a:ext uri="{9D8B030D-6E8A-4147-A177-3AD203B41FA5}">
                      <a16:colId xmlns:a16="http://schemas.microsoft.com/office/drawing/2014/main" val="378715410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457278906"/>
                    </a:ext>
                  </a:extLst>
                </a:gridCol>
              </a:tblGrid>
              <a:tr h="29474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59391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(n=123)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38947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859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6429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N(%)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5591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Age 45-54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N(%)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42424"/>
                  </a:ext>
                </a:extLst>
              </a:tr>
              <a:tr h="7073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Pharmacologic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882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Baclofen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N(%)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76684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Amatadine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N(%)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80540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 err="1"/>
                        <a:t>Halperidol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N(%)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4761"/>
                  </a:ext>
                </a:extLst>
              </a:tr>
              <a:tr h="40465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1858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72327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BFFE2F5-A481-B282-5E69-0FD36AE49AAB}"/>
              </a:ext>
            </a:extLst>
          </p:cNvPr>
          <p:cNvSpPr txBox="1"/>
          <p:nvPr/>
        </p:nvSpPr>
        <p:spPr>
          <a:xfrm>
            <a:off x="8468962" y="6439275"/>
            <a:ext cx="32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List sites included in the aggregate numbers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0302A0-95DD-F4F3-443E-8982244DCA31}"/>
              </a:ext>
            </a:extLst>
          </p:cNvPr>
          <p:cNvSpPr txBox="1"/>
          <p:nvPr/>
        </p:nvSpPr>
        <p:spPr>
          <a:xfrm>
            <a:off x="3978601" y="1769456"/>
            <a:ext cx="1683326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Label (Demographics)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D28AF8-FA94-B9AD-9A99-DAB8EA48D747}"/>
              </a:ext>
            </a:extLst>
          </p:cNvPr>
          <p:cNvSpPr txBox="1"/>
          <p:nvPr/>
        </p:nvSpPr>
        <p:spPr>
          <a:xfrm>
            <a:off x="3978600" y="2459335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 (Female)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31E8CF-C9D0-7205-0C3D-61A18B57DAB7}"/>
              </a:ext>
            </a:extLst>
          </p:cNvPr>
          <p:cNvSpPr txBox="1"/>
          <p:nvPr/>
        </p:nvSpPr>
        <p:spPr>
          <a:xfrm>
            <a:off x="3922918" y="4464933"/>
            <a:ext cx="1683326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Group 1 Label (Pharmacologic Use)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028929-ED0F-6066-A96A-7D6C11031D01}"/>
              </a:ext>
            </a:extLst>
          </p:cNvPr>
          <p:cNvSpPr txBox="1"/>
          <p:nvPr/>
        </p:nvSpPr>
        <p:spPr>
          <a:xfrm>
            <a:off x="3925645" y="5072639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 (Baclofen)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288CE0-D60A-B07F-BDDC-3ECD67482017}"/>
              </a:ext>
            </a:extLst>
          </p:cNvPr>
          <p:cNvSpPr txBox="1"/>
          <p:nvPr/>
        </p:nvSpPr>
        <p:spPr>
          <a:xfrm>
            <a:off x="3955932" y="5474240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 (</a:t>
            </a:r>
            <a:r>
              <a:rPr lang="en-US" sz="1200" dirty="0" err="1"/>
              <a:t>Amatadine</a:t>
            </a:r>
            <a:r>
              <a:rPr lang="en-US" sz="1200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E32505-0C83-8B94-00D7-0F36F59E3B4C}"/>
              </a:ext>
            </a:extLst>
          </p:cNvPr>
          <p:cNvSpPr txBox="1"/>
          <p:nvPr/>
        </p:nvSpPr>
        <p:spPr>
          <a:xfrm>
            <a:off x="3933258" y="5891010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 (</a:t>
            </a:r>
            <a:r>
              <a:rPr lang="en-US" sz="1200" dirty="0" err="1"/>
              <a:t>Halperidol</a:t>
            </a:r>
            <a:r>
              <a:rPr lang="en-US" sz="1200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76126-152D-22AF-254C-35B754F1C800}"/>
              </a:ext>
            </a:extLst>
          </p:cNvPr>
          <p:cNvSpPr txBox="1"/>
          <p:nvPr/>
        </p:nvSpPr>
        <p:spPr>
          <a:xfrm>
            <a:off x="6149681" y="2458661"/>
            <a:ext cx="1899259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B81CFA-58C4-C1C7-F3BF-2F7E97EDB6A8}"/>
              </a:ext>
            </a:extLst>
          </p:cNvPr>
          <p:cNvSpPr txBox="1"/>
          <p:nvPr/>
        </p:nvSpPr>
        <p:spPr>
          <a:xfrm>
            <a:off x="6104339" y="5063594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1 csv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C82E80-A943-1F98-3F53-58FBE57D9D9D}"/>
              </a:ext>
            </a:extLst>
          </p:cNvPr>
          <p:cNvSpPr txBox="1"/>
          <p:nvPr/>
        </p:nvSpPr>
        <p:spPr>
          <a:xfrm>
            <a:off x="6127013" y="5473566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2 csv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02DCA6-F6DE-4DCA-DE6E-C9D4CFF149CF}"/>
              </a:ext>
            </a:extLst>
          </p:cNvPr>
          <p:cNvSpPr txBox="1"/>
          <p:nvPr/>
        </p:nvSpPr>
        <p:spPr>
          <a:xfrm>
            <a:off x="6104339" y="5890336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3 csv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F0C6CC-05A0-C280-B01A-D97BB64B974F}"/>
              </a:ext>
            </a:extLst>
          </p:cNvPr>
          <p:cNvSpPr txBox="1"/>
          <p:nvPr/>
        </p:nvSpPr>
        <p:spPr>
          <a:xfrm>
            <a:off x="6149682" y="2966871"/>
            <a:ext cx="1899258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1E5D63-AE52-BDA6-9C14-A860653F8A85}"/>
              </a:ext>
            </a:extLst>
          </p:cNvPr>
          <p:cNvSpPr txBox="1"/>
          <p:nvPr/>
        </p:nvSpPr>
        <p:spPr>
          <a:xfrm>
            <a:off x="6153571" y="3497187"/>
            <a:ext cx="189925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4A0927-63C6-D414-7811-395ED369EB83}"/>
              </a:ext>
            </a:extLst>
          </p:cNvPr>
          <p:cNvSpPr txBox="1"/>
          <p:nvPr/>
        </p:nvSpPr>
        <p:spPr>
          <a:xfrm>
            <a:off x="4009080" y="2967335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 (Male)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31F503-B8A1-205A-E0C8-B2D511A0738C}"/>
              </a:ext>
            </a:extLst>
          </p:cNvPr>
          <p:cNvSpPr txBox="1"/>
          <p:nvPr/>
        </p:nvSpPr>
        <p:spPr>
          <a:xfrm>
            <a:off x="3978600" y="3497187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 (Age 45-54)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8FBEDD9-4342-E3F6-F4AE-D5DFF9CF4F42}"/>
              </a:ext>
            </a:extLst>
          </p:cNvPr>
          <p:cNvCxnSpPr/>
          <p:nvPr/>
        </p:nvCxnSpPr>
        <p:spPr>
          <a:xfrm>
            <a:off x="3752480" y="1291208"/>
            <a:ext cx="0" cy="5038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2CC05C-CD1E-9094-53D9-ED9D414D0E6E}"/>
              </a:ext>
            </a:extLst>
          </p:cNvPr>
          <p:cNvCxnSpPr/>
          <p:nvPr/>
        </p:nvCxnSpPr>
        <p:spPr>
          <a:xfrm>
            <a:off x="8344800" y="1539302"/>
            <a:ext cx="0" cy="5038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FA1CBD-A9E7-E486-D76F-F275292F7832}"/>
              </a:ext>
            </a:extLst>
          </p:cNvPr>
          <p:cNvCxnSpPr/>
          <p:nvPr/>
        </p:nvCxnSpPr>
        <p:spPr>
          <a:xfrm flipV="1">
            <a:off x="5877859" y="1445097"/>
            <a:ext cx="898861" cy="940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1088820-D956-6DBB-9A42-C117AD983BE6}"/>
              </a:ext>
            </a:extLst>
          </p:cNvPr>
          <p:cNvSpPr txBox="1"/>
          <p:nvPr/>
        </p:nvSpPr>
        <p:spPr>
          <a:xfrm>
            <a:off x="6776720" y="1113125"/>
            <a:ext cx="4035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Drop zones should behave like </a:t>
            </a:r>
            <a:r>
              <a:rPr lang="en-US" sz="1200" dirty="0" err="1"/>
              <a:t>sharephe</a:t>
            </a:r>
            <a:r>
              <a:rPr lang="en-US" sz="1200" dirty="0"/>
              <a:t> query drop zones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755A4-917F-1A8E-1896-5343DE9A5075}"/>
              </a:ext>
            </a:extLst>
          </p:cNvPr>
          <p:cNvSpPr txBox="1"/>
          <p:nvPr/>
        </p:nvSpPr>
        <p:spPr>
          <a:xfrm>
            <a:off x="4100836" y="1148657"/>
            <a:ext cx="1683326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Column Label (All)</a:t>
            </a:r>
          </a:p>
        </p:txBody>
      </p:sp>
    </p:spTree>
    <p:extLst>
      <p:ext uri="{BB962C8B-B14F-4D97-AF65-F5344CB8AC3E}">
        <p14:creationId xmlns:p14="http://schemas.microsoft.com/office/powerpoint/2010/main" val="197171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2DCCE-7FF8-4605-4A8A-87098B6B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05C7-A75B-7BD3-1F77-FAC93C3A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402692"/>
            <a:ext cx="10515600" cy="597314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builder – using breakdowns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1F6BE-F12C-7F06-C22F-B79980FE89C1}"/>
              </a:ext>
            </a:extLst>
          </p:cNvPr>
          <p:cNvSpPr txBox="1"/>
          <p:nvPr/>
        </p:nvSpPr>
        <p:spPr>
          <a:xfrm>
            <a:off x="257836" y="2108631"/>
            <a:ext cx="1959191" cy="276999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Demographic Breakdown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26276-7774-005D-C28E-C7A41D621BA2}"/>
              </a:ext>
            </a:extLst>
          </p:cNvPr>
          <p:cNvSpPr txBox="1"/>
          <p:nvPr/>
        </p:nvSpPr>
        <p:spPr>
          <a:xfrm>
            <a:off x="2394283" y="2108630"/>
            <a:ext cx="1358197" cy="2769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310A0-936E-558F-D9C8-43F87AAF69D1}"/>
              </a:ext>
            </a:extLst>
          </p:cNvPr>
          <p:cNvSpPr txBox="1"/>
          <p:nvPr/>
        </p:nvSpPr>
        <p:spPr>
          <a:xfrm>
            <a:off x="235040" y="3019753"/>
            <a:ext cx="908465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Charlson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D86F9-08CA-DDEA-B138-0BBBB297BD5A}"/>
              </a:ext>
            </a:extLst>
          </p:cNvPr>
          <p:cNvSpPr txBox="1"/>
          <p:nvPr/>
        </p:nvSpPr>
        <p:spPr>
          <a:xfrm>
            <a:off x="1302196" y="3001228"/>
            <a:ext cx="951283" cy="276999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</a:rPr>
              <a:t>Elixhauser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A6A0BA-FC23-C77F-197B-06A021D322E7}"/>
              </a:ext>
            </a:extLst>
          </p:cNvPr>
          <p:cNvSpPr txBox="1"/>
          <p:nvPr/>
        </p:nvSpPr>
        <p:spPr>
          <a:xfrm>
            <a:off x="2412642" y="2995096"/>
            <a:ext cx="951283" cy="2769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None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90EC5-DB3E-49C9-2D76-A64BF6A1B069}"/>
              </a:ext>
            </a:extLst>
          </p:cNvPr>
          <p:cNvSpPr txBox="1"/>
          <p:nvPr/>
        </p:nvSpPr>
        <p:spPr>
          <a:xfrm>
            <a:off x="227908" y="1130255"/>
            <a:ext cx="1959191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Number Columns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426665-6E4F-1006-995F-08F93A24D021}"/>
              </a:ext>
            </a:extLst>
          </p:cNvPr>
          <p:cNvSpPr txBox="1"/>
          <p:nvPr/>
        </p:nvSpPr>
        <p:spPr>
          <a:xfrm>
            <a:off x="246015" y="3967865"/>
            <a:ext cx="897490" cy="276999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Add Group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E50E9F-78A7-B63D-F597-EDC689F6056E}"/>
              </a:ext>
            </a:extLst>
          </p:cNvPr>
          <p:cNvSpPr txBox="1"/>
          <p:nvPr/>
        </p:nvSpPr>
        <p:spPr>
          <a:xfrm>
            <a:off x="1637414" y="1137320"/>
            <a:ext cx="280846" cy="3077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F6F3FB-16B2-F6F9-283D-DD62F49333D9}"/>
              </a:ext>
            </a:extLst>
          </p:cNvPr>
          <p:cNvSpPr txBox="1"/>
          <p:nvPr/>
        </p:nvSpPr>
        <p:spPr>
          <a:xfrm>
            <a:off x="235040" y="1719551"/>
            <a:ext cx="1781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Demographic</a:t>
            </a:r>
            <a:r>
              <a:rPr lang="en-US" sz="1400" b="1" dirty="0"/>
              <a:t> options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4715E5-B3B0-DFD1-9C13-B7907F9EF3DE}"/>
              </a:ext>
            </a:extLst>
          </p:cNvPr>
          <p:cNvSpPr txBox="1"/>
          <p:nvPr/>
        </p:nvSpPr>
        <p:spPr>
          <a:xfrm>
            <a:off x="174455" y="2629604"/>
            <a:ext cx="2204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Comorbid  Condition options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6372F7-3C43-BD3E-26B0-ADF6198EB59A}"/>
              </a:ext>
            </a:extLst>
          </p:cNvPr>
          <p:cNvSpPr txBox="1"/>
          <p:nvPr/>
        </p:nvSpPr>
        <p:spPr>
          <a:xfrm>
            <a:off x="174455" y="3571381"/>
            <a:ext cx="2868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Additional Variables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07632-E54B-DD7A-014B-519C6D5579FF}"/>
              </a:ext>
            </a:extLst>
          </p:cNvPr>
          <p:cNvSpPr txBox="1"/>
          <p:nvPr/>
        </p:nvSpPr>
        <p:spPr>
          <a:xfrm>
            <a:off x="8468962" y="6439275"/>
            <a:ext cx="32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List sites included in the aggregate numbers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32C353-45E5-E281-FC42-FBBC377D0DA0}"/>
              </a:ext>
            </a:extLst>
          </p:cNvPr>
          <p:cNvSpPr txBox="1"/>
          <p:nvPr/>
        </p:nvSpPr>
        <p:spPr>
          <a:xfrm>
            <a:off x="3978601" y="1769456"/>
            <a:ext cx="1683326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Breakdown –Labels come from inside csv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191675-C86E-6B72-F54D-A43D1DA5E255}"/>
              </a:ext>
            </a:extLst>
          </p:cNvPr>
          <p:cNvSpPr txBox="1"/>
          <p:nvPr/>
        </p:nvSpPr>
        <p:spPr>
          <a:xfrm>
            <a:off x="3970449" y="2698810"/>
            <a:ext cx="1765376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</a:t>
            </a:r>
            <a:r>
              <a:rPr lang="en-US" sz="1200" dirty="0" err="1"/>
              <a:t>Elixhauser</a:t>
            </a:r>
            <a:r>
              <a:rPr lang="en-US" sz="1200" dirty="0"/>
              <a:t> Breakdown – Labels are inside csv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F60537-709B-42B9-9A71-967F39588492}"/>
              </a:ext>
            </a:extLst>
          </p:cNvPr>
          <p:cNvSpPr txBox="1"/>
          <p:nvPr/>
        </p:nvSpPr>
        <p:spPr>
          <a:xfrm>
            <a:off x="3922918" y="4464933"/>
            <a:ext cx="1683326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Group 1 Label (Pharmacologic Use)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81ECA0-E9EB-3E55-EE4E-21AA370A575F}"/>
              </a:ext>
            </a:extLst>
          </p:cNvPr>
          <p:cNvSpPr txBox="1"/>
          <p:nvPr/>
        </p:nvSpPr>
        <p:spPr>
          <a:xfrm>
            <a:off x="3925645" y="5072639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 (Baclofen)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83EEBA-29B7-3585-4A03-13267FAF3182}"/>
              </a:ext>
            </a:extLst>
          </p:cNvPr>
          <p:cNvSpPr txBox="1"/>
          <p:nvPr/>
        </p:nvSpPr>
        <p:spPr>
          <a:xfrm>
            <a:off x="3955932" y="5474240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 (</a:t>
            </a:r>
            <a:r>
              <a:rPr lang="en-US" sz="1200" dirty="0" err="1"/>
              <a:t>Amatadine</a:t>
            </a:r>
            <a:r>
              <a:rPr lang="en-US" sz="1200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E2E7AA-89A2-BFBD-59EB-513718EF9B9E}"/>
              </a:ext>
            </a:extLst>
          </p:cNvPr>
          <p:cNvSpPr txBox="1"/>
          <p:nvPr/>
        </p:nvSpPr>
        <p:spPr>
          <a:xfrm>
            <a:off x="3933258" y="5891010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 (</a:t>
            </a:r>
            <a:r>
              <a:rPr lang="en-US" sz="1200" dirty="0" err="1"/>
              <a:t>Halperidol</a:t>
            </a:r>
            <a:r>
              <a:rPr lang="en-US" sz="1200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87E036-1495-7522-82B5-22090779AFEB}"/>
              </a:ext>
            </a:extLst>
          </p:cNvPr>
          <p:cNvSpPr txBox="1"/>
          <p:nvPr/>
        </p:nvSpPr>
        <p:spPr>
          <a:xfrm>
            <a:off x="6104339" y="5063594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1 csv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F4FA81-B8DE-5FDE-46C3-56EDE8F5283D}"/>
              </a:ext>
            </a:extLst>
          </p:cNvPr>
          <p:cNvSpPr txBox="1"/>
          <p:nvPr/>
        </p:nvSpPr>
        <p:spPr>
          <a:xfrm>
            <a:off x="6127013" y="5473566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2 csv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BAAFA9-92DC-7A0C-F886-2BDCE553BB0E}"/>
              </a:ext>
            </a:extLst>
          </p:cNvPr>
          <p:cNvSpPr txBox="1"/>
          <p:nvPr/>
        </p:nvSpPr>
        <p:spPr>
          <a:xfrm>
            <a:off x="6104339" y="5890336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3 csv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0D836F9-D342-A7E9-3434-C9E06EC56155}"/>
              </a:ext>
            </a:extLst>
          </p:cNvPr>
          <p:cNvCxnSpPr/>
          <p:nvPr/>
        </p:nvCxnSpPr>
        <p:spPr>
          <a:xfrm>
            <a:off x="3752480" y="1291208"/>
            <a:ext cx="0" cy="5038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A6295A5-3F79-8FF6-AFD1-05E6A7E0F887}"/>
              </a:ext>
            </a:extLst>
          </p:cNvPr>
          <p:cNvCxnSpPr/>
          <p:nvPr/>
        </p:nvCxnSpPr>
        <p:spPr>
          <a:xfrm>
            <a:off x="8344800" y="1539302"/>
            <a:ext cx="0" cy="5038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06678C-DFC3-DB20-26BB-1811C0760A26}"/>
              </a:ext>
            </a:extLst>
          </p:cNvPr>
          <p:cNvSpPr txBox="1"/>
          <p:nvPr/>
        </p:nvSpPr>
        <p:spPr>
          <a:xfrm>
            <a:off x="3970448" y="1079839"/>
            <a:ext cx="1347405" cy="45946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Column Label (All)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815802-CEF0-3C52-B073-48ABEA07D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587408"/>
              </p:ext>
            </p:extLst>
          </p:nvPr>
        </p:nvGraphicFramePr>
        <p:xfrm>
          <a:off x="8446438" y="114783"/>
          <a:ext cx="3552380" cy="62034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698">
                  <a:extLst>
                    <a:ext uri="{9D8B030D-6E8A-4147-A177-3AD203B41FA5}">
                      <a16:colId xmlns:a16="http://schemas.microsoft.com/office/drawing/2014/main" val="378715410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457278906"/>
                    </a:ext>
                  </a:extLst>
                </a:gridCol>
                <a:gridCol w="654107">
                  <a:extLst>
                    <a:ext uri="{9D8B030D-6E8A-4147-A177-3AD203B41FA5}">
                      <a16:colId xmlns:a16="http://schemas.microsoft.com/office/drawing/2014/main" val="3837767708"/>
                    </a:ext>
                  </a:extLst>
                </a:gridCol>
                <a:gridCol w="888095">
                  <a:extLst>
                    <a:ext uri="{9D8B030D-6E8A-4147-A177-3AD203B41FA5}">
                      <a16:colId xmlns:a16="http://schemas.microsoft.com/office/drawing/2014/main" val="49805429"/>
                    </a:ext>
                  </a:extLst>
                </a:gridCol>
              </a:tblGrid>
              <a:tr h="29474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VMAT2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VMAT2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59391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(n=123)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38947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859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6429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18-30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2350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5591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White…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39453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42424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Female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755581"/>
                  </a:ext>
                </a:extLst>
              </a:tr>
              <a:tr h="7073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Elixhauser</a:t>
                      </a:r>
                      <a:r>
                        <a:rPr lang="en-US" sz="1200" dirty="0"/>
                        <a:t> Comorbidities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882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76684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80540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4761"/>
                  </a:ext>
                </a:extLst>
              </a:tr>
              <a:tr h="426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Pharmacologic Use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93506"/>
                  </a:ext>
                </a:extLst>
              </a:tr>
              <a:tr h="324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Baclofen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8839"/>
                  </a:ext>
                </a:extLst>
              </a:tr>
              <a:tr h="404658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Amatadine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1858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 err="1"/>
                        <a:t>Halperidol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72327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220CFF5-8F29-DEB1-EA71-F10173399213}"/>
              </a:ext>
            </a:extLst>
          </p:cNvPr>
          <p:cNvSpPr txBox="1"/>
          <p:nvPr/>
        </p:nvSpPr>
        <p:spPr>
          <a:xfrm>
            <a:off x="5415984" y="1107731"/>
            <a:ext cx="1192886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Column Label (VMAT2)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A7069A-FAE7-1F2D-F465-D3C5B4F775EF}"/>
              </a:ext>
            </a:extLst>
          </p:cNvPr>
          <p:cNvSpPr txBox="1"/>
          <p:nvPr/>
        </p:nvSpPr>
        <p:spPr>
          <a:xfrm>
            <a:off x="6707001" y="1121460"/>
            <a:ext cx="1192886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Column Label (Not VMAT2)</a:t>
            </a:r>
          </a:p>
        </p:txBody>
      </p:sp>
    </p:spTree>
    <p:extLst>
      <p:ext uri="{BB962C8B-B14F-4D97-AF65-F5344CB8AC3E}">
        <p14:creationId xmlns:p14="http://schemas.microsoft.com/office/powerpoint/2010/main" val="218184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468F-FBBC-4162-A581-45862E74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402692"/>
            <a:ext cx="10515600" cy="597314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builder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7F9172-020A-3F37-26C0-4AF49F453BAB}"/>
              </a:ext>
            </a:extLst>
          </p:cNvPr>
          <p:cNvGrpSpPr/>
          <p:nvPr/>
        </p:nvGrpSpPr>
        <p:grpSpPr>
          <a:xfrm>
            <a:off x="174455" y="1130255"/>
            <a:ext cx="3578025" cy="3114609"/>
            <a:chOff x="448775" y="1130255"/>
            <a:chExt cx="3578025" cy="31146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D094B6-EE93-B951-9360-817032406A97}"/>
                </a:ext>
              </a:extLst>
            </p:cNvPr>
            <p:cNvSpPr txBox="1"/>
            <p:nvPr/>
          </p:nvSpPr>
          <p:spPr>
            <a:xfrm>
              <a:off x="532156" y="2108631"/>
              <a:ext cx="1959191" cy="27699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Demographic Breakdown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26E1B9-17DA-FF80-4CD5-6F5AEB5CC303}"/>
                </a:ext>
              </a:extLst>
            </p:cNvPr>
            <p:cNvSpPr txBox="1"/>
            <p:nvPr/>
          </p:nvSpPr>
          <p:spPr>
            <a:xfrm>
              <a:off x="2668603" y="2108630"/>
              <a:ext cx="1358197" cy="276999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Demographic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D92C83-C8CD-046A-6EFA-5131CDDAFECF}"/>
                </a:ext>
              </a:extLst>
            </p:cNvPr>
            <p:cNvSpPr txBox="1"/>
            <p:nvPr/>
          </p:nvSpPr>
          <p:spPr>
            <a:xfrm>
              <a:off x="509360" y="3019753"/>
              <a:ext cx="908465" cy="276999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Charlson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3B9A3C-9E0B-1900-FA5E-2B9EC821D365}"/>
                </a:ext>
              </a:extLst>
            </p:cNvPr>
            <p:cNvSpPr txBox="1"/>
            <p:nvPr/>
          </p:nvSpPr>
          <p:spPr>
            <a:xfrm>
              <a:off x="1576516" y="3001228"/>
              <a:ext cx="951283" cy="27699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Elixhauser</a:t>
              </a:r>
              <a:endParaRPr lang="en-US" sz="12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A17F23-D82E-269E-71E9-768C38E59EFB}"/>
                </a:ext>
              </a:extLst>
            </p:cNvPr>
            <p:cNvSpPr txBox="1"/>
            <p:nvPr/>
          </p:nvSpPr>
          <p:spPr>
            <a:xfrm>
              <a:off x="2686962" y="2995096"/>
              <a:ext cx="951283" cy="276999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None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C8E303-8C8A-1B83-23EC-F95A1F7C9B22}"/>
                </a:ext>
              </a:extLst>
            </p:cNvPr>
            <p:cNvSpPr txBox="1"/>
            <p:nvPr/>
          </p:nvSpPr>
          <p:spPr>
            <a:xfrm>
              <a:off x="502228" y="1130255"/>
              <a:ext cx="1959191" cy="27699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Number Columns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587036-58EB-D981-8437-FC375E5C08B5}"/>
                </a:ext>
              </a:extLst>
            </p:cNvPr>
            <p:cNvSpPr txBox="1"/>
            <p:nvPr/>
          </p:nvSpPr>
          <p:spPr>
            <a:xfrm>
              <a:off x="520335" y="3967865"/>
              <a:ext cx="897490" cy="276999"/>
            </a:xfrm>
            <a:prstGeom prst="rect">
              <a:avLst/>
            </a:prstGeom>
            <a:solidFill>
              <a:schemeClr val="accent6"/>
            </a:solidFill>
            <a:ln w="28575">
              <a:solidFill>
                <a:schemeClr val="accent6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Add Group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F5998C-DF79-8432-E743-4DCC56717FB7}"/>
                </a:ext>
              </a:extLst>
            </p:cNvPr>
            <p:cNvSpPr txBox="1"/>
            <p:nvPr/>
          </p:nvSpPr>
          <p:spPr>
            <a:xfrm>
              <a:off x="1911734" y="1137320"/>
              <a:ext cx="280846" cy="307777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D61D40-8996-6C40-021C-67CBDD79FAF4}"/>
                </a:ext>
              </a:extLst>
            </p:cNvPr>
            <p:cNvSpPr txBox="1"/>
            <p:nvPr/>
          </p:nvSpPr>
          <p:spPr>
            <a:xfrm>
              <a:off x="509360" y="1719551"/>
              <a:ext cx="17815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Demographic</a:t>
              </a:r>
              <a:r>
                <a:rPr lang="en-US" sz="1400" b="1" dirty="0"/>
                <a:t> options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E16C31-A4BD-9DEC-B61C-C6F647F57CE2}"/>
                </a:ext>
              </a:extLst>
            </p:cNvPr>
            <p:cNvSpPr txBox="1"/>
            <p:nvPr/>
          </p:nvSpPr>
          <p:spPr>
            <a:xfrm>
              <a:off x="448775" y="2629604"/>
              <a:ext cx="22044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Comorbid  Condition options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74E4FF2-C99C-C192-0FB8-644B39E62B56}"/>
                </a:ext>
              </a:extLst>
            </p:cNvPr>
            <p:cNvSpPr txBox="1"/>
            <p:nvPr/>
          </p:nvSpPr>
          <p:spPr>
            <a:xfrm>
              <a:off x="448775" y="3571381"/>
              <a:ext cx="2868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Additional Variables</a:t>
              </a:r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E769513-A26E-CAE0-67D3-11C8D4325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716997"/>
              </p:ext>
            </p:extLst>
          </p:nvPr>
        </p:nvGraphicFramePr>
        <p:xfrm>
          <a:off x="8535902" y="645953"/>
          <a:ext cx="3552380" cy="54303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698">
                  <a:extLst>
                    <a:ext uri="{9D8B030D-6E8A-4147-A177-3AD203B41FA5}">
                      <a16:colId xmlns:a16="http://schemas.microsoft.com/office/drawing/2014/main" val="378715410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457278906"/>
                    </a:ext>
                  </a:extLst>
                </a:gridCol>
                <a:gridCol w="654107">
                  <a:extLst>
                    <a:ext uri="{9D8B030D-6E8A-4147-A177-3AD203B41FA5}">
                      <a16:colId xmlns:a16="http://schemas.microsoft.com/office/drawing/2014/main" val="3837767708"/>
                    </a:ext>
                  </a:extLst>
                </a:gridCol>
                <a:gridCol w="888095">
                  <a:extLst>
                    <a:ext uri="{9D8B030D-6E8A-4147-A177-3AD203B41FA5}">
                      <a16:colId xmlns:a16="http://schemas.microsoft.com/office/drawing/2014/main" val="49805429"/>
                    </a:ext>
                  </a:extLst>
                </a:gridCol>
              </a:tblGrid>
              <a:tr h="29474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VMAT2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VMAT2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59391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(n=123)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38947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859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6429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5591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42424"/>
                  </a:ext>
                </a:extLst>
              </a:tr>
              <a:tr h="7073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Elixhauser</a:t>
                      </a:r>
                      <a:r>
                        <a:rPr lang="en-US" sz="1200" dirty="0"/>
                        <a:t> Comorbidities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882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76684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80540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4761"/>
                  </a:ext>
                </a:extLst>
              </a:tr>
              <a:tr h="7073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Pharmacologic Use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93506"/>
                  </a:ext>
                </a:extLst>
              </a:tr>
              <a:tr h="501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Baclofen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8839"/>
                  </a:ext>
                </a:extLst>
              </a:tr>
              <a:tr h="404658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Amatadine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1858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 err="1"/>
                        <a:t>Halperidol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72327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285DFDA-E133-FBDD-5C8A-1873378631A9}"/>
              </a:ext>
            </a:extLst>
          </p:cNvPr>
          <p:cNvSpPr txBox="1"/>
          <p:nvPr/>
        </p:nvSpPr>
        <p:spPr>
          <a:xfrm>
            <a:off x="8468962" y="6439275"/>
            <a:ext cx="32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List sites included in the aggregate numbers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BC9D8D-7F1E-1495-3C3A-6B815E5B5D49}"/>
              </a:ext>
            </a:extLst>
          </p:cNvPr>
          <p:cNvSpPr txBox="1"/>
          <p:nvPr/>
        </p:nvSpPr>
        <p:spPr>
          <a:xfrm>
            <a:off x="3978601" y="1759296"/>
            <a:ext cx="1683326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Label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CFD5FA-0E17-7A1E-D079-FAC3EACDB441}"/>
              </a:ext>
            </a:extLst>
          </p:cNvPr>
          <p:cNvSpPr txBox="1"/>
          <p:nvPr/>
        </p:nvSpPr>
        <p:spPr>
          <a:xfrm>
            <a:off x="3978600" y="2459335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DA5388-E42C-347C-2CA4-ECA95BB861DE}"/>
              </a:ext>
            </a:extLst>
          </p:cNvPr>
          <p:cNvSpPr txBox="1"/>
          <p:nvPr/>
        </p:nvSpPr>
        <p:spPr>
          <a:xfrm>
            <a:off x="3922918" y="4464933"/>
            <a:ext cx="1683326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Group 1 Label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166133-029D-C087-F81B-B20204375834}"/>
              </a:ext>
            </a:extLst>
          </p:cNvPr>
          <p:cNvSpPr txBox="1"/>
          <p:nvPr/>
        </p:nvSpPr>
        <p:spPr>
          <a:xfrm>
            <a:off x="3925645" y="5072639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95988C-7323-ED33-B9A8-D0563E71F1B3}"/>
              </a:ext>
            </a:extLst>
          </p:cNvPr>
          <p:cNvSpPr txBox="1"/>
          <p:nvPr/>
        </p:nvSpPr>
        <p:spPr>
          <a:xfrm>
            <a:off x="3955932" y="5474240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88ABFC-03B1-372C-5E05-849094568200}"/>
              </a:ext>
            </a:extLst>
          </p:cNvPr>
          <p:cNvSpPr txBox="1"/>
          <p:nvPr/>
        </p:nvSpPr>
        <p:spPr>
          <a:xfrm>
            <a:off x="3933258" y="5891010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2DFAAD-AB53-2FEC-BC03-A55F96F2917A}"/>
              </a:ext>
            </a:extLst>
          </p:cNvPr>
          <p:cNvSpPr txBox="1"/>
          <p:nvPr/>
        </p:nvSpPr>
        <p:spPr>
          <a:xfrm>
            <a:off x="6149681" y="2458661"/>
            <a:ext cx="1899259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ABD4A7-1779-54D2-9E8C-7370DDEA7F11}"/>
              </a:ext>
            </a:extLst>
          </p:cNvPr>
          <p:cNvSpPr txBox="1"/>
          <p:nvPr/>
        </p:nvSpPr>
        <p:spPr>
          <a:xfrm>
            <a:off x="6104339" y="5063594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1 csv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8ADC86-6AB1-F847-4435-2652A0B44BB6}"/>
              </a:ext>
            </a:extLst>
          </p:cNvPr>
          <p:cNvSpPr txBox="1"/>
          <p:nvPr/>
        </p:nvSpPr>
        <p:spPr>
          <a:xfrm>
            <a:off x="6127013" y="5473566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2 csv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0EB34A-B7D2-25E8-6B6A-7C05615335DF}"/>
              </a:ext>
            </a:extLst>
          </p:cNvPr>
          <p:cNvSpPr txBox="1"/>
          <p:nvPr/>
        </p:nvSpPr>
        <p:spPr>
          <a:xfrm>
            <a:off x="6104339" y="5890336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3 csv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309ADF-610D-C694-AE02-486171604AC8}"/>
              </a:ext>
            </a:extLst>
          </p:cNvPr>
          <p:cNvSpPr txBox="1"/>
          <p:nvPr/>
        </p:nvSpPr>
        <p:spPr>
          <a:xfrm>
            <a:off x="6149682" y="2966871"/>
            <a:ext cx="1899258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046E3E-8A78-B4E2-587A-025E570BE3B2}"/>
              </a:ext>
            </a:extLst>
          </p:cNvPr>
          <p:cNvSpPr txBox="1"/>
          <p:nvPr/>
        </p:nvSpPr>
        <p:spPr>
          <a:xfrm>
            <a:off x="6153571" y="3497187"/>
            <a:ext cx="189925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E0F012-D2F9-EF69-4FDE-163B972583BB}"/>
              </a:ext>
            </a:extLst>
          </p:cNvPr>
          <p:cNvSpPr txBox="1"/>
          <p:nvPr/>
        </p:nvSpPr>
        <p:spPr>
          <a:xfrm>
            <a:off x="4009080" y="2967335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A62A55-29F6-7187-6099-D2F926273DD2}"/>
              </a:ext>
            </a:extLst>
          </p:cNvPr>
          <p:cNvSpPr txBox="1"/>
          <p:nvPr/>
        </p:nvSpPr>
        <p:spPr>
          <a:xfrm>
            <a:off x="3978600" y="3497187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FFA4C4-A23E-F2EF-12D6-480C8DB4F8EF}"/>
              </a:ext>
            </a:extLst>
          </p:cNvPr>
          <p:cNvCxnSpPr/>
          <p:nvPr/>
        </p:nvCxnSpPr>
        <p:spPr>
          <a:xfrm>
            <a:off x="3752480" y="1291208"/>
            <a:ext cx="0" cy="5038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591A448-FE56-9348-4CF2-597E5B58B79E}"/>
              </a:ext>
            </a:extLst>
          </p:cNvPr>
          <p:cNvCxnSpPr/>
          <p:nvPr/>
        </p:nvCxnSpPr>
        <p:spPr>
          <a:xfrm>
            <a:off x="8344800" y="1539302"/>
            <a:ext cx="0" cy="5038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0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C09CC-E969-CFDA-B7E7-A827F15D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EF91-F0D5-755E-3EF3-790387ED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2A9B8-1D67-7250-4932-2582B9AF962B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44FFD1-ED5A-0831-A580-79ED9EF1B6CB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A1349-3F0A-07B3-C430-8DEE262F7B1A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28A42-7EEF-F147-875C-9496E97FED00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72FE33-BA81-0167-2AA0-C7A336176328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36FF4D-4FB2-4CCA-A4B9-003009AD4840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343C7C-2E97-B85A-5EFF-0F8ECEAC0181}"/>
              </a:ext>
            </a:extLst>
          </p:cNvPr>
          <p:cNvSpPr txBox="1"/>
          <p:nvPr/>
        </p:nvSpPr>
        <p:spPr>
          <a:xfrm>
            <a:off x="573348" y="4727733"/>
            <a:ext cx="329983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EAA553-F2B7-4728-FC70-D8B8E3C5FF47}"/>
              </a:ext>
            </a:extLst>
          </p:cNvPr>
          <p:cNvSpPr txBox="1"/>
          <p:nvPr/>
        </p:nvSpPr>
        <p:spPr>
          <a:xfrm>
            <a:off x="573348" y="5285202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B60191-A2C5-0DFC-8C33-55FDCB5FDA8C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088A6C-F126-C357-B6F3-990085652F1E}"/>
              </a:ext>
            </a:extLst>
          </p:cNvPr>
          <p:cNvSpPr txBox="1"/>
          <p:nvPr/>
        </p:nvSpPr>
        <p:spPr>
          <a:xfrm>
            <a:off x="573348" y="4111580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Add Group</a:t>
            </a:r>
          </a:p>
        </p:txBody>
      </p:sp>
    </p:spTree>
    <p:extLst>
      <p:ext uri="{BB962C8B-B14F-4D97-AF65-F5344CB8AC3E}">
        <p14:creationId xmlns:p14="http://schemas.microsoft.com/office/powerpoint/2010/main" val="284537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08CD-3FEC-0F6F-BB9F-FCC3DBA3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33C8-ABD8-9369-D98C-8B68C11F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EC368-DB48-1B6E-FE4A-49156EA83FEF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772B0-4872-565D-1A64-EED42D9B3E1A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41485-AED0-3560-51DF-D72E5AAA10FD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FFBBB-5328-DD93-152C-D39155684B09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7A5B2-5E49-D28C-B26A-5B4F288E7215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4CB-A4EF-3306-3195-3EED5EB7F827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C801CB-8B1F-24C5-3591-A5FBBDBAB113}"/>
              </a:ext>
            </a:extLst>
          </p:cNvPr>
          <p:cNvSpPr txBox="1"/>
          <p:nvPr/>
        </p:nvSpPr>
        <p:spPr>
          <a:xfrm>
            <a:off x="573348" y="4727733"/>
            <a:ext cx="329983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4EB81D-69BA-4B7D-AFCE-6ECBB2D0F475}"/>
              </a:ext>
            </a:extLst>
          </p:cNvPr>
          <p:cNvSpPr txBox="1"/>
          <p:nvPr/>
        </p:nvSpPr>
        <p:spPr>
          <a:xfrm>
            <a:off x="573348" y="5285202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6B5415-50F4-924C-F413-9CFFDB2E0004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070C71-DBD4-EF6D-6FB3-4CA132220248}"/>
              </a:ext>
            </a:extLst>
          </p:cNvPr>
          <p:cNvSpPr txBox="1"/>
          <p:nvPr/>
        </p:nvSpPr>
        <p:spPr>
          <a:xfrm>
            <a:off x="573348" y="4111580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Add Group</a:t>
            </a:r>
          </a:p>
        </p:txBody>
      </p:sp>
    </p:spTree>
    <p:extLst>
      <p:ext uri="{BB962C8B-B14F-4D97-AF65-F5344CB8AC3E}">
        <p14:creationId xmlns:p14="http://schemas.microsoft.com/office/powerpoint/2010/main" val="113976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49ED-DCF3-7CB8-F264-2FF6C413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5C30-2082-D798-91B7-90AF711E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5826D-6763-56BE-8BCC-1B353654E68A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5144E6-31FB-F262-61FB-714DC4D5E92E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D0A9E-B194-34A1-2D0C-8D5EEF1D8F0F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B9D26-F01C-442B-6C04-74FEBDF1299B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9D503-E0A1-AE92-8077-176CDD7CEFF4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FA379E-8132-1AB5-A515-5517BBA9BE31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F6B78B-B516-B36D-B925-FC144A2C29CD}"/>
              </a:ext>
            </a:extLst>
          </p:cNvPr>
          <p:cNvSpPr txBox="1"/>
          <p:nvPr/>
        </p:nvSpPr>
        <p:spPr>
          <a:xfrm>
            <a:off x="573348" y="4727733"/>
            <a:ext cx="329983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FB8027-41BD-F715-F804-658B00E87AF2}"/>
              </a:ext>
            </a:extLst>
          </p:cNvPr>
          <p:cNvSpPr txBox="1"/>
          <p:nvPr/>
        </p:nvSpPr>
        <p:spPr>
          <a:xfrm>
            <a:off x="573348" y="5285202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01A608-C398-386D-3A6E-AF27A3A11615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E40B44-4B5B-768A-9E0E-8D3E0BEF64BE}"/>
              </a:ext>
            </a:extLst>
          </p:cNvPr>
          <p:cNvSpPr txBox="1"/>
          <p:nvPr/>
        </p:nvSpPr>
        <p:spPr>
          <a:xfrm>
            <a:off x="573348" y="4111580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Add Group</a:t>
            </a:r>
          </a:p>
        </p:txBody>
      </p:sp>
    </p:spTree>
    <p:extLst>
      <p:ext uri="{BB962C8B-B14F-4D97-AF65-F5344CB8AC3E}">
        <p14:creationId xmlns:p14="http://schemas.microsoft.com/office/powerpoint/2010/main" val="309201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4437-5A38-54B9-D27A-CA72B9D0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5808-00F2-3D7F-4410-24D49603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F6740-FA88-CEAA-DD3B-A48C5F15224D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92AADE-B896-6FAD-8743-C2EFC6EF2E73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FA7E4-C007-1031-A4F9-7ED1C865B74F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F8D62-06E2-417A-DC36-84BA3579808A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5BCDD8-C168-4B04-533B-E220AC3B3539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7EDDAE-AB76-9BDA-EC98-E768A29B71A0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0BB971-6413-71BD-2CF2-E78DB78D29F5}"/>
              </a:ext>
            </a:extLst>
          </p:cNvPr>
          <p:cNvSpPr txBox="1"/>
          <p:nvPr/>
        </p:nvSpPr>
        <p:spPr>
          <a:xfrm>
            <a:off x="573348" y="4727733"/>
            <a:ext cx="329983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656D0B-3714-612D-7CB3-DE1BBEB066E5}"/>
              </a:ext>
            </a:extLst>
          </p:cNvPr>
          <p:cNvSpPr txBox="1"/>
          <p:nvPr/>
        </p:nvSpPr>
        <p:spPr>
          <a:xfrm>
            <a:off x="573348" y="5285202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6D2AB1-9ED4-AD34-156A-2B97ECFAF99C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4FFAF8-9B49-0E35-1200-BF82FE322AC7}"/>
              </a:ext>
            </a:extLst>
          </p:cNvPr>
          <p:cNvSpPr txBox="1"/>
          <p:nvPr/>
        </p:nvSpPr>
        <p:spPr>
          <a:xfrm>
            <a:off x="573348" y="4111580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Add Group</a:t>
            </a:r>
          </a:p>
        </p:txBody>
      </p:sp>
    </p:spTree>
    <p:extLst>
      <p:ext uri="{BB962C8B-B14F-4D97-AF65-F5344CB8AC3E}">
        <p14:creationId xmlns:p14="http://schemas.microsoft.com/office/powerpoint/2010/main" val="176003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35335-7BA3-9FE7-F2E2-FF3875DE8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AD3F-B669-1C13-375D-B26D2017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99FFF-1CA1-5679-F013-FB22604C63C8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70FCF-D60F-3B63-2D24-B9E3A15A000C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858D4-A725-BC63-FC40-01528B02AE2C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69AE8-A22F-D30B-FA8A-641B45D71518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F2311-51F5-22D8-4664-21AEC619AFCD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34FF8E-886A-BE86-1338-2584E9B56AC8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F73C19-C005-8C9C-1818-51DC84933E40}"/>
              </a:ext>
            </a:extLst>
          </p:cNvPr>
          <p:cNvSpPr txBox="1"/>
          <p:nvPr/>
        </p:nvSpPr>
        <p:spPr>
          <a:xfrm>
            <a:off x="573348" y="4774075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E20CF-EE31-192B-9702-66584B89F143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73404-29F2-3212-FB14-210BACB0D292}"/>
              </a:ext>
            </a:extLst>
          </p:cNvPr>
          <p:cNvSpPr txBox="1"/>
          <p:nvPr/>
        </p:nvSpPr>
        <p:spPr>
          <a:xfrm>
            <a:off x="573348" y="4111580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Add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435EFE-0FC2-BC59-954A-3456D16A0363}"/>
              </a:ext>
            </a:extLst>
          </p:cNvPr>
          <p:cNvCxnSpPr/>
          <p:nvPr/>
        </p:nvCxnSpPr>
        <p:spPr>
          <a:xfrm>
            <a:off x="6423949" y="868101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D2BEC5-BC01-5741-5AB6-C1369DA8D8E4}"/>
              </a:ext>
            </a:extLst>
          </p:cNvPr>
          <p:cNvSpPr txBox="1"/>
          <p:nvPr/>
        </p:nvSpPr>
        <p:spPr>
          <a:xfrm>
            <a:off x="2516652" y="4778304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80509-C7F8-BB07-EFD1-817436A443FB}"/>
              </a:ext>
            </a:extLst>
          </p:cNvPr>
          <p:cNvSpPr txBox="1"/>
          <p:nvPr/>
        </p:nvSpPr>
        <p:spPr>
          <a:xfrm>
            <a:off x="2832818" y="1106318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532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3C2A0-8440-C02B-2C73-A3A6F458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0261-948B-DA95-2258-FC17EAF11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24B66F-0CF7-A745-248A-F20F3457E7B1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D8FA93-BB39-519B-36AD-F5C27D3D4899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9B57E-C100-B53B-023F-07E5099033D6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D3079-602D-B76B-C99B-C038B99288C0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22AC70-43DC-C413-0BA3-7E5E9681F8B3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DBCC4F-B6D1-5A93-6F68-C4B32A4FEF14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D48F4A-E289-68C1-E946-723A4ED574A5}"/>
              </a:ext>
            </a:extLst>
          </p:cNvPr>
          <p:cNvSpPr txBox="1"/>
          <p:nvPr/>
        </p:nvSpPr>
        <p:spPr>
          <a:xfrm>
            <a:off x="573348" y="4774075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10B9AA-4C60-91E4-1740-165A0DB80923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F540DF-7A2A-E008-DF8D-19ED5E483199}"/>
              </a:ext>
            </a:extLst>
          </p:cNvPr>
          <p:cNvSpPr txBox="1"/>
          <p:nvPr/>
        </p:nvSpPr>
        <p:spPr>
          <a:xfrm>
            <a:off x="573348" y="4272648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Add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E2F0DB-C18B-446D-BA9C-CD1E5A46BCFE}"/>
              </a:ext>
            </a:extLst>
          </p:cNvPr>
          <p:cNvCxnSpPr/>
          <p:nvPr/>
        </p:nvCxnSpPr>
        <p:spPr>
          <a:xfrm>
            <a:off x="6423949" y="868101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038B20-93E1-D981-E5BD-ECC19B31BB4C}"/>
              </a:ext>
            </a:extLst>
          </p:cNvPr>
          <p:cNvSpPr txBox="1"/>
          <p:nvPr/>
        </p:nvSpPr>
        <p:spPr>
          <a:xfrm>
            <a:off x="2516652" y="4778304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12FEDE-4999-E9D1-4463-EF902E02A744}"/>
              </a:ext>
            </a:extLst>
          </p:cNvPr>
          <p:cNvSpPr txBox="1"/>
          <p:nvPr/>
        </p:nvSpPr>
        <p:spPr>
          <a:xfrm>
            <a:off x="2832818" y="1106318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8563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12FE-539C-C394-EFFF-7B97607C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F86D-98BF-4CA9-5B6E-B772E34A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builder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32AB48-DEEF-4E7E-CA55-F14DE5E1EDF8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AD506-DE96-3FC6-2C54-82E489E91412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B49FA-4FAE-1D02-F0C7-5BF4639DCEEE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Demographic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FD9D5-FB01-1BDA-F0C6-374E1D7A9FEE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3B777-D944-9515-FEF8-5A99E6B962D5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E82FB7-03BD-6BCB-898A-C6335FE554EA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FAD3E2-7B21-D6E8-DA45-005235B62DC2}"/>
              </a:ext>
            </a:extLst>
          </p:cNvPr>
          <p:cNvSpPr txBox="1"/>
          <p:nvPr/>
        </p:nvSpPr>
        <p:spPr>
          <a:xfrm>
            <a:off x="573348" y="4774075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C281B-BDD6-13F3-3121-27B2B613E0F7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384681-4474-E237-46DB-347935A2C805}"/>
              </a:ext>
            </a:extLst>
          </p:cNvPr>
          <p:cNvSpPr txBox="1"/>
          <p:nvPr/>
        </p:nvSpPr>
        <p:spPr>
          <a:xfrm>
            <a:off x="573348" y="4272648"/>
            <a:ext cx="1249125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C20B46-306F-A941-72AA-D704264BEA4C}"/>
              </a:ext>
            </a:extLst>
          </p:cNvPr>
          <p:cNvCxnSpPr/>
          <p:nvPr/>
        </p:nvCxnSpPr>
        <p:spPr>
          <a:xfrm>
            <a:off x="6423949" y="868101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6CE725-2E97-3BA1-FDC5-194C0498802B}"/>
              </a:ext>
            </a:extLst>
          </p:cNvPr>
          <p:cNvSpPr txBox="1"/>
          <p:nvPr/>
        </p:nvSpPr>
        <p:spPr>
          <a:xfrm>
            <a:off x="2516652" y="4778304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5F651-5D63-0AFE-4A47-428C955ADD94}"/>
              </a:ext>
            </a:extLst>
          </p:cNvPr>
          <p:cNvSpPr txBox="1"/>
          <p:nvPr/>
        </p:nvSpPr>
        <p:spPr>
          <a:xfrm>
            <a:off x="2832818" y="1106318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F5FDF-2819-007D-9FBC-3EB19349A1C1}"/>
              </a:ext>
            </a:extLst>
          </p:cNvPr>
          <p:cNvSpPr txBox="1"/>
          <p:nvPr/>
        </p:nvSpPr>
        <p:spPr>
          <a:xfrm>
            <a:off x="5598714" y="2129354"/>
            <a:ext cx="4112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FC509F-E4A3-1E7F-C8F3-C5A247417131}"/>
              </a:ext>
            </a:extLst>
          </p:cNvPr>
          <p:cNvSpPr txBox="1"/>
          <p:nvPr/>
        </p:nvSpPr>
        <p:spPr>
          <a:xfrm>
            <a:off x="6736743" y="1646711"/>
            <a:ext cx="1683326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F03951-6406-8496-4379-4612B32B9BAA}"/>
              </a:ext>
            </a:extLst>
          </p:cNvPr>
          <p:cNvSpPr txBox="1"/>
          <p:nvPr/>
        </p:nvSpPr>
        <p:spPr>
          <a:xfrm>
            <a:off x="6736742" y="2346750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C77F24-ED3D-795D-6B72-71A49B396320}"/>
              </a:ext>
            </a:extLst>
          </p:cNvPr>
          <p:cNvSpPr txBox="1"/>
          <p:nvPr/>
        </p:nvSpPr>
        <p:spPr>
          <a:xfrm>
            <a:off x="6681060" y="4352348"/>
            <a:ext cx="1683326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Group 1 Label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BB62FD-E787-EAE3-2E11-AE1A87C68A69}"/>
              </a:ext>
            </a:extLst>
          </p:cNvPr>
          <p:cNvSpPr txBox="1"/>
          <p:nvPr/>
        </p:nvSpPr>
        <p:spPr>
          <a:xfrm>
            <a:off x="6691400" y="4951683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362401-F4AC-570D-A780-A58E4AD29E82}"/>
              </a:ext>
            </a:extLst>
          </p:cNvPr>
          <p:cNvSpPr txBox="1"/>
          <p:nvPr/>
        </p:nvSpPr>
        <p:spPr>
          <a:xfrm>
            <a:off x="6714074" y="5361655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31E61C-4064-595E-646D-5BB7DC4AA739}"/>
              </a:ext>
            </a:extLst>
          </p:cNvPr>
          <p:cNvSpPr txBox="1"/>
          <p:nvPr/>
        </p:nvSpPr>
        <p:spPr>
          <a:xfrm>
            <a:off x="6691400" y="5778425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Variable Label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F2CBED-EC0F-F47B-8F8D-5AB5CDD5940F}"/>
              </a:ext>
            </a:extLst>
          </p:cNvPr>
          <p:cNvSpPr txBox="1"/>
          <p:nvPr/>
        </p:nvSpPr>
        <p:spPr>
          <a:xfrm>
            <a:off x="573348" y="1307211"/>
            <a:ext cx="2325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Demographic options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C056CB-3F36-0C62-66C1-CCC8CBA449E5}"/>
              </a:ext>
            </a:extLst>
          </p:cNvPr>
          <p:cNvSpPr txBox="1"/>
          <p:nvPr/>
        </p:nvSpPr>
        <p:spPr>
          <a:xfrm>
            <a:off x="498920" y="2841176"/>
            <a:ext cx="3058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Comorbid  Condition options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BDEE00-56AF-5994-8E52-4C676F6C7908}"/>
              </a:ext>
            </a:extLst>
          </p:cNvPr>
          <p:cNvSpPr txBox="1"/>
          <p:nvPr/>
        </p:nvSpPr>
        <p:spPr>
          <a:xfrm>
            <a:off x="390028" y="3876164"/>
            <a:ext cx="286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 Variables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41F4EF-BCD3-CE64-4757-8E5BD9F71C04}"/>
              </a:ext>
            </a:extLst>
          </p:cNvPr>
          <p:cNvSpPr txBox="1"/>
          <p:nvPr/>
        </p:nvSpPr>
        <p:spPr>
          <a:xfrm>
            <a:off x="8907823" y="2346076"/>
            <a:ext cx="1899259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A39E07-8898-7090-8399-5BA0EF2FC1B1}"/>
              </a:ext>
            </a:extLst>
          </p:cNvPr>
          <p:cNvSpPr txBox="1"/>
          <p:nvPr/>
        </p:nvSpPr>
        <p:spPr>
          <a:xfrm>
            <a:off x="8862481" y="4951009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1 csv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4F24FE-7F5E-60B2-14F4-F54DAAE6E30A}"/>
              </a:ext>
            </a:extLst>
          </p:cNvPr>
          <p:cNvSpPr txBox="1"/>
          <p:nvPr/>
        </p:nvSpPr>
        <p:spPr>
          <a:xfrm>
            <a:off x="8885155" y="5360981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2 csv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0CD10A-BE1C-9C9B-41B3-537BE616B7BF}"/>
              </a:ext>
            </a:extLst>
          </p:cNvPr>
          <p:cNvSpPr txBox="1"/>
          <p:nvPr/>
        </p:nvSpPr>
        <p:spPr>
          <a:xfrm>
            <a:off x="8862481" y="5777751"/>
            <a:ext cx="206612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Group 1 Variable 3 csv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B01BFB-1218-E38C-F0F6-3FABE99779D3}"/>
              </a:ext>
            </a:extLst>
          </p:cNvPr>
          <p:cNvSpPr txBox="1"/>
          <p:nvPr/>
        </p:nvSpPr>
        <p:spPr>
          <a:xfrm>
            <a:off x="8907824" y="2854286"/>
            <a:ext cx="1899258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421A3A-7FBA-0CAB-E8B9-49BF351144FB}"/>
              </a:ext>
            </a:extLst>
          </p:cNvPr>
          <p:cNvSpPr txBox="1"/>
          <p:nvPr/>
        </p:nvSpPr>
        <p:spPr>
          <a:xfrm>
            <a:off x="8911713" y="3384602"/>
            <a:ext cx="1899257" cy="2769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 Demographic csv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CCE41D-BD03-FF82-62C9-FB37657EFF71}"/>
              </a:ext>
            </a:extLst>
          </p:cNvPr>
          <p:cNvSpPr txBox="1"/>
          <p:nvPr/>
        </p:nvSpPr>
        <p:spPr>
          <a:xfrm>
            <a:off x="6767222" y="2854750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3D128E-FA3A-B3E0-293B-E579360956E8}"/>
              </a:ext>
            </a:extLst>
          </p:cNvPr>
          <p:cNvSpPr txBox="1"/>
          <p:nvPr/>
        </p:nvSpPr>
        <p:spPr>
          <a:xfrm>
            <a:off x="6736742" y="3384602"/>
            <a:ext cx="1899259" cy="4616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Demographic Variable Label</a:t>
            </a:r>
          </a:p>
        </p:txBody>
      </p:sp>
    </p:spTree>
    <p:extLst>
      <p:ext uri="{BB962C8B-B14F-4D97-AF65-F5344CB8AC3E}">
        <p14:creationId xmlns:p14="http://schemas.microsoft.com/office/powerpoint/2010/main" val="2395366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6590-5EFB-8764-FB64-0CED4514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C42C-77CC-1452-D096-BFC57CF5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builder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49EFC0-C008-40C6-4DE3-51218A7C2FC5}"/>
              </a:ext>
            </a:extLst>
          </p:cNvPr>
          <p:cNvCxnSpPr/>
          <p:nvPr/>
        </p:nvCxnSpPr>
        <p:spPr>
          <a:xfrm>
            <a:off x="3995709" y="1010341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3179F3-3D85-C023-0AEB-D83EC5877235}"/>
              </a:ext>
            </a:extLst>
          </p:cNvPr>
          <p:cNvSpPr txBox="1"/>
          <p:nvPr/>
        </p:nvSpPr>
        <p:spPr>
          <a:xfrm>
            <a:off x="701703" y="1494191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47466F-93C1-DF0F-8E81-8D76BD33EC14}"/>
              </a:ext>
            </a:extLst>
          </p:cNvPr>
          <p:cNvSpPr txBox="1"/>
          <p:nvPr/>
        </p:nvSpPr>
        <p:spPr>
          <a:xfrm>
            <a:off x="701702" y="2194230"/>
            <a:ext cx="2751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csv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068665-26F4-D337-B397-46BF90C75736}"/>
              </a:ext>
            </a:extLst>
          </p:cNvPr>
          <p:cNvSpPr txBox="1"/>
          <p:nvPr/>
        </p:nvSpPr>
        <p:spPr>
          <a:xfrm>
            <a:off x="646020" y="4199828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1 Label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45BE60-E2A9-727E-6020-7062363DE59C}"/>
              </a:ext>
            </a:extLst>
          </p:cNvPr>
          <p:cNvSpPr txBox="1"/>
          <p:nvPr/>
        </p:nvSpPr>
        <p:spPr>
          <a:xfrm>
            <a:off x="656360" y="4799163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1 csv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4479D2-3747-9D4B-7BAF-76959190E74B}"/>
              </a:ext>
            </a:extLst>
          </p:cNvPr>
          <p:cNvSpPr txBox="1"/>
          <p:nvPr/>
        </p:nvSpPr>
        <p:spPr>
          <a:xfrm>
            <a:off x="679034" y="5209135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2 csv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966E68-64B3-8130-723B-0861D67F7A1F}"/>
              </a:ext>
            </a:extLst>
          </p:cNvPr>
          <p:cNvSpPr txBox="1"/>
          <p:nvPr/>
        </p:nvSpPr>
        <p:spPr>
          <a:xfrm>
            <a:off x="656360" y="5625905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3 csv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18C2C7-1B4C-B5CF-E2B0-BAF7D5E41A37}"/>
              </a:ext>
            </a:extLst>
          </p:cNvPr>
          <p:cNvSpPr txBox="1"/>
          <p:nvPr/>
        </p:nvSpPr>
        <p:spPr>
          <a:xfrm>
            <a:off x="701702" y="2611000"/>
            <a:ext cx="275118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csv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147D09-08E5-D13A-CA14-05C0F3683EE7}"/>
              </a:ext>
            </a:extLst>
          </p:cNvPr>
          <p:cNvSpPr txBox="1"/>
          <p:nvPr/>
        </p:nvSpPr>
        <p:spPr>
          <a:xfrm>
            <a:off x="712523" y="3059668"/>
            <a:ext cx="2751187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csv 3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209E18-240B-F065-A95E-EB71CD5C3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476227"/>
              </p:ext>
            </p:extLst>
          </p:nvPr>
        </p:nvGraphicFramePr>
        <p:xfrm>
          <a:off x="4587620" y="1100185"/>
          <a:ext cx="6501328" cy="5127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9246">
                  <a:extLst>
                    <a:ext uri="{9D8B030D-6E8A-4147-A177-3AD203B41FA5}">
                      <a16:colId xmlns:a16="http://schemas.microsoft.com/office/drawing/2014/main" val="3787154109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1457278906"/>
                    </a:ext>
                  </a:extLst>
                </a:gridCol>
                <a:gridCol w="1321070">
                  <a:extLst>
                    <a:ext uri="{9D8B030D-6E8A-4147-A177-3AD203B41FA5}">
                      <a16:colId xmlns:a16="http://schemas.microsoft.com/office/drawing/2014/main" val="3837767708"/>
                    </a:ext>
                  </a:extLst>
                </a:gridCol>
                <a:gridCol w="1625332">
                  <a:extLst>
                    <a:ext uri="{9D8B030D-6E8A-4147-A177-3AD203B41FA5}">
                      <a16:colId xmlns:a16="http://schemas.microsoft.com/office/drawing/2014/main" val="49805429"/>
                    </a:ext>
                  </a:extLst>
                </a:gridCol>
              </a:tblGrid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(n=123)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38947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8596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6429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55916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42424"/>
                  </a:ext>
                </a:extLst>
              </a:tr>
              <a:tr h="627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Elixhauser</a:t>
                      </a:r>
                      <a:r>
                        <a:rPr lang="en-US" dirty="0"/>
                        <a:t> Comorbidities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76684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80540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4761"/>
                  </a:ext>
                </a:extLst>
              </a:tr>
              <a:tr h="166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Pharmacologic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93506"/>
                  </a:ext>
                </a:extLst>
              </a:tr>
              <a:tr h="3460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Aspirin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8839"/>
                  </a:ext>
                </a:extLst>
              </a:tr>
              <a:tr h="464455">
                <a:tc>
                  <a:txBody>
                    <a:bodyPr/>
                    <a:lstStyle/>
                    <a:p>
                      <a:r>
                        <a:rPr lang="en-US" dirty="0"/>
                        <a:t>Acetaminophen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1858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Atenolol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723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33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5E37B-12E1-EAEF-6DF0-86D39416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C4CE-D40F-BB69-8644-4E62405A3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builder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1B5C28-9AA3-240A-3413-7C0709E53C92}"/>
              </a:ext>
            </a:extLst>
          </p:cNvPr>
          <p:cNvCxnSpPr/>
          <p:nvPr/>
        </p:nvCxnSpPr>
        <p:spPr>
          <a:xfrm>
            <a:off x="3995709" y="1010341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DEDF1D-32A2-F5E5-954F-6DCC8423F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84177"/>
              </p:ext>
            </p:extLst>
          </p:nvPr>
        </p:nvGraphicFramePr>
        <p:xfrm>
          <a:off x="4587620" y="1100185"/>
          <a:ext cx="6501328" cy="704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9246">
                  <a:extLst>
                    <a:ext uri="{9D8B030D-6E8A-4147-A177-3AD203B41FA5}">
                      <a16:colId xmlns:a16="http://schemas.microsoft.com/office/drawing/2014/main" val="3787154109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1457278906"/>
                    </a:ext>
                  </a:extLst>
                </a:gridCol>
                <a:gridCol w="1321070">
                  <a:extLst>
                    <a:ext uri="{9D8B030D-6E8A-4147-A177-3AD203B41FA5}">
                      <a16:colId xmlns:a16="http://schemas.microsoft.com/office/drawing/2014/main" val="3837767708"/>
                    </a:ext>
                  </a:extLst>
                </a:gridCol>
                <a:gridCol w="1625332">
                  <a:extLst>
                    <a:ext uri="{9D8B030D-6E8A-4147-A177-3AD203B41FA5}">
                      <a16:colId xmlns:a16="http://schemas.microsoft.com/office/drawing/2014/main" val="49805429"/>
                    </a:ext>
                  </a:extLst>
                </a:gridCol>
              </a:tblGrid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(n=123)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38947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8596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6429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20-30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301161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55916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42424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557896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506281"/>
                  </a:ext>
                </a:extLst>
              </a:tr>
              <a:tr h="627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Elixhauser</a:t>
                      </a:r>
                      <a:r>
                        <a:rPr lang="en-US" dirty="0"/>
                        <a:t> Comorbidities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76684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80540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4761"/>
                  </a:ext>
                </a:extLst>
              </a:tr>
              <a:tr h="166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Pharmacologic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93506"/>
                  </a:ext>
                </a:extLst>
              </a:tr>
              <a:tr h="3460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Aspirin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8839"/>
                  </a:ext>
                </a:extLst>
              </a:tr>
              <a:tr h="464455">
                <a:tc>
                  <a:txBody>
                    <a:bodyPr/>
                    <a:lstStyle/>
                    <a:p>
                      <a:r>
                        <a:rPr lang="en-US" dirty="0"/>
                        <a:t>Acetaminophen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1858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Atenolol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7232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FF7C66-4B0C-F3FA-1E22-2429F6A51E9F}"/>
              </a:ext>
            </a:extLst>
          </p:cNvPr>
          <p:cNvSpPr txBox="1"/>
          <p:nvPr/>
        </p:nvSpPr>
        <p:spPr>
          <a:xfrm>
            <a:off x="1148743" y="1166941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Label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148D2-4465-FD2F-6BA8-09BB5F8928E9}"/>
              </a:ext>
            </a:extLst>
          </p:cNvPr>
          <p:cNvSpPr txBox="1"/>
          <p:nvPr/>
        </p:nvSpPr>
        <p:spPr>
          <a:xfrm>
            <a:off x="1148743" y="1866980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Breakdown csv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3DF43-338B-4F3E-7911-BCAC82CEBD02}"/>
              </a:ext>
            </a:extLst>
          </p:cNvPr>
          <p:cNvSpPr txBox="1"/>
          <p:nvPr/>
        </p:nvSpPr>
        <p:spPr>
          <a:xfrm>
            <a:off x="1148743" y="2765760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r>
              <a:rPr lang="en-US" dirty="0"/>
              <a:t> Label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7AEF6-4079-D21E-5DEC-F6AA6363229D}"/>
              </a:ext>
            </a:extLst>
          </p:cNvPr>
          <p:cNvSpPr txBox="1"/>
          <p:nvPr/>
        </p:nvSpPr>
        <p:spPr>
          <a:xfrm>
            <a:off x="1148743" y="3465799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</a:t>
            </a:r>
            <a:r>
              <a:rPr lang="en-US" dirty="0" err="1"/>
              <a:t>Elixhauser</a:t>
            </a:r>
            <a:r>
              <a:rPr lang="en-US" dirty="0"/>
              <a:t> Breakdown 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7213F-541E-FB11-E64D-3F0EB76AD4E2}"/>
              </a:ext>
            </a:extLst>
          </p:cNvPr>
          <p:cNvSpPr txBox="1"/>
          <p:nvPr/>
        </p:nvSpPr>
        <p:spPr>
          <a:xfrm>
            <a:off x="1115729" y="4327035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1 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4565CB-F5D4-2C19-1761-145D8298053C}"/>
              </a:ext>
            </a:extLst>
          </p:cNvPr>
          <p:cNvSpPr txBox="1"/>
          <p:nvPr/>
        </p:nvSpPr>
        <p:spPr>
          <a:xfrm>
            <a:off x="1126069" y="4926370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1 csv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21372-CFAD-9B60-8541-0B3A53BB9DFF}"/>
              </a:ext>
            </a:extLst>
          </p:cNvPr>
          <p:cNvSpPr txBox="1"/>
          <p:nvPr/>
        </p:nvSpPr>
        <p:spPr>
          <a:xfrm>
            <a:off x="1148743" y="5336342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2 csv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98F253-4EE8-AAD4-218B-A1D0A60F0AF6}"/>
              </a:ext>
            </a:extLst>
          </p:cNvPr>
          <p:cNvSpPr txBox="1"/>
          <p:nvPr/>
        </p:nvSpPr>
        <p:spPr>
          <a:xfrm>
            <a:off x="1126069" y="5753112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3 csv</a:t>
            </a:r>
          </a:p>
        </p:txBody>
      </p:sp>
    </p:spTree>
    <p:extLst>
      <p:ext uri="{BB962C8B-B14F-4D97-AF65-F5344CB8AC3E}">
        <p14:creationId xmlns:p14="http://schemas.microsoft.com/office/powerpoint/2010/main" val="158679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1C3D-2620-40A2-D439-85141771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6D95-487E-1E59-E7E8-464E5AE3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builder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081DAF-3B46-56AE-6536-A81B0C347C23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061FE-CD29-2800-B9FC-3F76AFCA7E55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51221-B930-BDC5-5C30-EF0570418F09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BFF35-7C0B-2BA7-4F88-D064CF49DF29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2A146-3A0C-AAA3-C7FA-E506F9858AEB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Elixhauser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056F5-CAC2-9B6D-CCDC-6F5F6A8C50E3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F2215D-8BE5-CEC8-3620-72BE114D7B2C}"/>
              </a:ext>
            </a:extLst>
          </p:cNvPr>
          <p:cNvSpPr txBox="1"/>
          <p:nvPr/>
        </p:nvSpPr>
        <p:spPr>
          <a:xfrm>
            <a:off x="573348" y="4774075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291D4B-B693-3341-4BB1-ED6887B25681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A33940-46E1-055D-3B73-A8D4078FB8E1}"/>
              </a:ext>
            </a:extLst>
          </p:cNvPr>
          <p:cNvSpPr txBox="1"/>
          <p:nvPr/>
        </p:nvSpPr>
        <p:spPr>
          <a:xfrm>
            <a:off x="573348" y="4272648"/>
            <a:ext cx="1249125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55A4F3-E02B-A75A-EFBD-036254D64BBB}"/>
              </a:ext>
            </a:extLst>
          </p:cNvPr>
          <p:cNvCxnSpPr/>
          <p:nvPr/>
        </p:nvCxnSpPr>
        <p:spPr>
          <a:xfrm>
            <a:off x="6423949" y="868101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66A6E7C-F62C-4131-258C-BADCBB9C8DFC}"/>
              </a:ext>
            </a:extLst>
          </p:cNvPr>
          <p:cNvSpPr txBox="1"/>
          <p:nvPr/>
        </p:nvSpPr>
        <p:spPr>
          <a:xfrm>
            <a:off x="2516652" y="4778304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7E232-0CB1-36D6-9FD0-7EB0DE8435E3}"/>
              </a:ext>
            </a:extLst>
          </p:cNvPr>
          <p:cNvSpPr txBox="1"/>
          <p:nvPr/>
        </p:nvSpPr>
        <p:spPr>
          <a:xfrm>
            <a:off x="2832818" y="1106318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AE276-EC7B-B851-9BEB-4CFD4DE367C9}"/>
              </a:ext>
            </a:extLst>
          </p:cNvPr>
          <p:cNvSpPr txBox="1"/>
          <p:nvPr/>
        </p:nvSpPr>
        <p:spPr>
          <a:xfrm>
            <a:off x="5598714" y="2129354"/>
            <a:ext cx="4112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A875E-CB81-0062-460C-BAB274CBF873}"/>
              </a:ext>
            </a:extLst>
          </p:cNvPr>
          <p:cNvSpPr txBox="1"/>
          <p:nvPr/>
        </p:nvSpPr>
        <p:spPr>
          <a:xfrm>
            <a:off x="6736743" y="1613981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84207-B605-0BC5-FB90-2565FCF42E3E}"/>
              </a:ext>
            </a:extLst>
          </p:cNvPr>
          <p:cNvSpPr txBox="1"/>
          <p:nvPr/>
        </p:nvSpPr>
        <p:spPr>
          <a:xfrm>
            <a:off x="6736743" y="2314020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Breakdown csv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85849-F6C8-0C94-F528-986832B6EAC5}"/>
              </a:ext>
            </a:extLst>
          </p:cNvPr>
          <p:cNvSpPr txBox="1"/>
          <p:nvPr/>
        </p:nvSpPr>
        <p:spPr>
          <a:xfrm>
            <a:off x="6736743" y="3212800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r>
              <a:rPr lang="en-US" dirty="0"/>
              <a:t> Label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DBA211-6344-8E5D-588A-123AEB93A773}"/>
              </a:ext>
            </a:extLst>
          </p:cNvPr>
          <p:cNvSpPr txBox="1"/>
          <p:nvPr/>
        </p:nvSpPr>
        <p:spPr>
          <a:xfrm>
            <a:off x="6736743" y="3912839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</a:t>
            </a:r>
            <a:r>
              <a:rPr lang="en-US" dirty="0" err="1"/>
              <a:t>Elixhauser</a:t>
            </a:r>
            <a:r>
              <a:rPr lang="en-US" dirty="0"/>
              <a:t> Breakdown csv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84C07D-6E5B-1AF0-9377-E189248B970B}"/>
              </a:ext>
            </a:extLst>
          </p:cNvPr>
          <p:cNvSpPr txBox="1"/>
          <p:nvPr/>
        </p:nvSpPr>
        <p:spPr>
          <a:xfrm>
            <a:off x="6703729" y="4774075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1 Label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EF30A1-44FF-994A-6DA1-3217E71363A2}"/>
              </a:ext>
            </a:extLst>
          </p:cNvPr>
          <p:cNvSpPr txBox="1"/>
          <p:nvPr/>
        </p:nvSpPr>
        <p:spPr>
          <a:xfrm>
            <a:off x="6714069" y="5373410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1 csv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416AE3-145C-A398-A567-7373D61F9016}"/>
              </a:ext>
            </a:extLst>
          </p:cNvPr>
          <p:cNvSpPr txBox="1"/>
          <p:nvPr/>
        </p:nvSpPr>
        <p:spPr>
          <a:xfrm>
            <a:off x="6736743" y="5783382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2 csv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9ACC7B-6DBD-FC5F-5E71-11B97C780B16}"/>
              </a:ext>
            </a:extLst>
          </p:cNvPr>
          <p:cNvSpPr txBox="1"/>
          <p:nvPr/>
        </p:nvSpPr>
        <p:spPr>
          <a:xfrm>
            <a:off x="6714069" y="6200152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3 csv</a:t>
            </a:r>
          </a:p>
        </p:txBody>
      </p:sp>
    </p:spTree>
    <p:extLst>
      <p:ext uri="{BB962C8B-B14F-4D97-AF65-F5344CB8AC3E}">
        <p14:creationId xmlns:p14="http://schemas.microsoft.com/office/powerpoint/2010/main" val="1688003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0E2A-D33A-CC6B-18BE-7B1D2891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9FA4-FD3F-072B-3DD8-8EDC327C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 screen 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3A9EFA-9826-A6FB-9AA6-31CAD7ECC865}"/>
              </a:ext>
            </a:extLst>
          </p:cNvPr>
          <p:cNvCxnSpPr/>
          <p:nvPr/>
        </p:nvCxnSpPr>
        <p:spPr>
          <a:xfrm>
            <a:off x="4849149" y="941668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6F08C91-BBDB-79C5-CE03-7B9869895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505834"/>
              </p:ext>
            </p:extLst>
          </p:nvPr>
        </p:nvGraphicFramePr>
        <p:xfrm>
          <a:off x="5436674" y="795385"/>
          <a:ext cx="6501328" cy="5127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9246">
                  <a:extLst>
                    <a:ext uri="{9D8B030D-6E8A-4147-A177-3AD203B41FA5}">
                      <a16:colId xmlns:a16="http://schemas.microsoft.com/office/drawing/2014/main" val="3787154109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1457278906"/>
                    </a:ext>
                  </a:extLst>
                </a:gridCol>
                <a:gridCol w="1321070">
                  <a:extLst>
                    <a:ext uri="{9D8B030D-6E8A-4147-A177-3AD203B41FA5}">
                      <a16:colId xmlns:a16="http://schemas.microsoft.com/office/drawing/2014/main" val="3837767708"/>
                    </a:ext>
                  </a:extLst>
                </a:gridCol>
                <a:gridCol w="1625332">
                  <a:extLst>
                    <a:ext uri="{9D8B030D-6E8A-4147-A177-3AD203B41FA5}">
                      <a16:colId xmlns:a16="http://schemas.microsoft.com/office/drawing/2014/main" val="49805429"/>
                    </a:ext>
                  </a:extLst>
                </a:gridCol>
              </a:tblGrid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(n=123)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38947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8596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6429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55916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dirty="0"/>
                        <a:t>Age 45-54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42424"/>
                  </a:ext>
                </a:extLst>
              </a:tr>
              <a:tr h="627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Pharmacologic Use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Baclofen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76684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sz="1400" dirty="0" err="1"/>
                        <a:t>Amatadine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80540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r>
                        <a:rPr lang="en-US" sz="1400" dirty="0" err="1"/>
                        <a:t>Halperidol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4761"/>
                  </a:ext>
                </a:extLst>
              </a:tr>
              <a:tr h="166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93506"/>
                  </a:ext>
                </a:extLst>
              </a:tr>
              <a:tr h="3460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8839"/>
                  </a:ext>
                </a:extLst>
              </a:tr>
              <a:tr h="4644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1858"/>
                  </a:ext>
                </a:extLst>
              </a:tr>
              <a:tr h="34452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72327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5A9E888-8164-F57F-CE20-C176EA3ADD41}"/>
              </a:ext>
            </a:extLst>
          </p:cNvPr>
          <p:cNvSpPr txBox="1"/>
          <p:nvPr/>
        </p:nvSpPr>
        <p:spPr>
          <a:xfrm>
            <a:off x="772823" y="1299021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Label (Demographics)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3DD6B2-2C8E-1784-A852-3F9B67E9E21E}"/>
              </a:ext>
            </a:extLst>
          </p:cNvPr>
          <p:cNvSpPr txBox="1"/>
          <p:nvPr/>
        </p:nvSpPr>
        <p:spPr>
          <a:xfrm>
            <a:off x="253998" y="2004809"/>
            <a:ext cx="2751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Label (Female)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2096E7-222D-7BF3-0E04-2F6AF254DB45}"/>
              </a:ext>
            </a:extLst>
          </p:cNvPr>
          <p:cNvSpPr txBox="1"/>
          <p:nvPr/>
        </p:nvSpPr>
        <p:spPr>
          <a:xfrm>
            <a:off x="717140" y="4004658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1 Label (Pharmacologic Use)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9A926D-BAC9-955E-912D-794DDD0D0ABE}"/>
              </a:ext>
            </a:extLst>
          </p:cNvPr>
          <p:cNvSpPr txBox="1"/>
          <p:nvPr/>
        </p:nvSpPr>
        <p:spPr>
          <a:xfrm>
            <a:off x="727480" y="4603993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1 csv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463700-88CB-D267-4559-C0CCFCB212CF}"/>
              </a:ext>
            </a:extLst>
          </p:cNvPr>
          <p:cNvSpPr txBox="1"/>
          <p:nvPr/>
        </p:nvSpPr>
        <p:spPr>
          <a:xfrm>
            <a:off x="750154" y="5013965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2 csv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4195B-BAF6-765A-24BD-1E9483CFD5E5}"/>
              </a:ext>
            </a:extLst>
          </p:cNvPr>
          <p:cNvSpPr txBox="1"/>
          <p:nvPr/>
        </p:nvSpPr>
        <p:spPr>
          <a:xfrm>
            <a:off x="727480" y="5430735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3 csv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D7F7A5-717F-4282-D291-756B7963717E}"/>
              </a:ext>
            </a:extLst>
          </p:cNvPr>
          <p:cNvSpPr txBox="1"/>
          <p:nvPr/>
        </p:nvSpPr>
        <p:spPr>
          <a:xfrm>
            <a:off x="253998" y="2421579"/>
            <a:ext cx="275118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Label (Male)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71134D-BAC3-1F81-58FD-0554ACE5E180}"/>
              </a:ext>
            </a:extLst>
          </p:cNvPr>
          <p:cNvSpPr txBox="1"/>
          <p:nvPr/>
        </p:nvSpPr>
        <p:spPr>
          <a:xfrm>
            <a:off x="264819" y="2870247"/>
            <a:ext cx="2751187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Label (Age 45-54)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F5136-AE3D-AF1B-B102-8745FB9D6E71}"/>
              </a:ext>
            </a:extLst>
          </p:cNvPr>
          <p:cNvSpPr txBox="1"/>
          <p:nvPr/>
        </p:nvSpPr>
        <p:spPr>
          <a:xfrm>
            <a:off x="3333992" y="1999060"/>
            <a:ext cx="2751191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csv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D87F21-257C-A674-662A-AEBC762E5E27}"/>
              </a:ext>
            </a:extLst>
          </p:cNvPr>
          <p:cNvSpPr txBox="1"/>
          <p:nvPr/>
        </p:nvSpPr>
        <p:spPr>
          <a:xfrm>
            <a:off x="3333992" y="2415830"/>
            <a:ext cx="275118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csv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C72817-DC55-A4B9-13A7-C45EC39196A0}"/>
              </a:ext>
            </a:extLst>
          </p:cNvPr>
          <p:cNvSpPr txBox="1"/>
          <p:nvPr/>
        </p:nvSpPr>
        <p:spPr>
          <a:xfrm>
            <a:off x="3344813" y="2864498"/>
            <a:ext cx="2751187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csv 3</a:t>
            </a:r>
          </a:p>
        </p:txBody>
      </p:sp>
    </p:spTree>
    <p:extLst>
      <p:ext uri="{BB962C8B-B14F-4D97-AF65-F5344CB8AC3E}">
        <p14:creationId xmlns:p14="http://schemas.microsoft.com/office/powerpoint/2010/main" val="880526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B514-5338-A13C-7C89-BB2A609A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CF0A-968B-C23D-C40E-26A0E490A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E05B9E-EA5C-C60B-AA7E-225FFB412814}"/>
              </a:ext>
            </a:extLst>
          </p:cNvPr>
          <p:cNvCxnSpPr/>
          <p:nvPr/>
        </p:nvCxnSpPr>
        <p:spPr>
          <a:xfrm>
            <a:off x="4849149" y="941668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7D266F-1441-0D08-88A1-FFD5553C03AD}"/>
              </a:ext>
            </a:extLst>
          </p:cNvPr>
          <p:cNvSpPr txBox="1"/>
          <p:nvPr/>
        </p:nvSpPr>
        <p:spPr>
          <a:xfrm>
            <a:off x="1148743" y="1166941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DEDB4-F1AD-ACD1-0AD5-42627C1C33EE}"/>
              </a:ext>
            </a:extLst>
          </p:cNvPr>
          <p:cNvSpPr txBox="1"/>
          <p:nvPr/>
        </p:nvSpPr>
        <p:spPr>
          <a:xfrm>
            <a:off x="1148743" y="1866980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Demographic Breakdown csv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9532C8-ADCC-CE40-F034-E38FA6DF84CE}"/>
              </a:ext>
            </a:extLst>
          </p:cNvPr>
          <p:cNvSpPr txBox="1"/>
          <p:nvPr/>
        </p:nvSpPr>
        <p:spPr>
          <a:xfrm>
            <a:off x="1148743" y="2765760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Elixhauser</a:t>
            </a:r>
            <a:r>
              <a:rPr lang="en-US" dirty="0"/>
              <a:t> Label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75147-05A3-34AB-3132-E376148EAF4E}"/>
              </a:ext>
            </a:extLst>
          </p:cNvPr>
          <p:cNvSpPr txBox="1"/>
          <p:nvPr/>
        </p:nvSpPr>
        <p:spPr>
          <a:xfrm>
            <a:off x="1148743" y="3465799"/>
            <a:ext cx="2438398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</a:t>
            </a:r>
            <a:r>
              <a:rPr lang="en-US" dirty="0" err="1"/>
              <a:t>Elixhauser</a:t>
            </a:r>
            <a:r>
              <a:rPr lang="en-US" dirty="0"/>
              <a:t> Breakdown csv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8992DE-CBB0-2527-D0F0-1670BA1F9F24}"/>
              </a:ext>
            </a:extLst>
          </p:cNvPr>
          <p:cNvSpPr txBox="1"/>
          <p:nvPr/>
        </p:nvSpPr>
        <p:spPr>
          <a:xfrm>
            <a:off x="1115729" y="4327035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Group 1 Label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AC1174-3578-0891-2C67-605EB39B2B1C}"/>
              </a:ext>
            </a:extLst>
          </p:cNvPr>
          <p:cNvSpPr txBox="1"/>
          <p:nvPr/>
        </p:nvSpPr>
        <p:spPr>
          <a:xfrm>
            <a:off x="1126069" y="4926370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1 csv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08F6D6-AA4A-6CD4-8FB9-80E885906500}"/>
              </a:ext>
            </a:extLst>
          </p:cNvPr>
          <p:cNvSpPr txBox="1"/>
          <p:nvPr/>
        </p:nvSpPr>
        <p:spPr>
          <a:xfrm>
            <a:off x="1148743" y="5336342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2 csv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3FCAD6-FE6C-9344-C191-833817D10BC7}"/>
              </a:ext>
            </a:extLst>
          </p:cNvPr>
          <p:cNvSpPr txBox="1"/>
          <p:nvPr/>
        </p:nvSpPr>
        <p:spPr>
          <a:xfrm>
            <a:off x="1126069" y="5753112"/>
            <a:ext cx="2992909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Drop Group 1 Variable 3 csv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6B62E1D-6527-B02C-8F05-6764BE2B7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032265"/>
              </p:ext>
            </p:extLst>
          </p:nvPr>
        </p:nvGraphicFramePr>
        <p:xfrm>
          <a:off x="7791260" y="748792"/>
          <a:ext cx="4126419" cy="5267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422">
                  <a:extLst>
                    <a:ext uri="{9D8B030D-6E8A-4147-A177-3AD203B41FA5}">
                      <a16:colId xmlns:a16="http://schemas.microsoft.com/office/drawing/2014/main" val="3787154109"/>
                    </a:ext>
                  </a:extLst>
                </a:gridCol>
                <a:gridCol w="792787">
                  <a:extLst>
                    <a:ext uri="{9D8B030D-6E8A-4147-A177-3AD203B41FA5}">
                      <a16:colId xmlns:a16="http://schemas.microsoft.com/office/drawing/2014/main" val="1457278906"/>
                    </a:ext>
                  </a:extLst>
                </a:gridCol>
                <a:gridCol w="1031605">
                  <a:extLst>
                    <a:ext uri="{9D8B030D-6E8A-4147-A177-3AD203B41FA5}">
                      <a16:colId xmlns:a16="http://schemas.microsoft.com/office/drawing/2014/main" val="3837767708"/>
                    </a:ext>
                  </a:extLst>
                </a:gridCol>
                <a:gridCol w="1031605">
                  <a:extLst>
                    <a:ext uri="{9D8B030D-6E8A-4147-A177-3AD203B41FA5}">
                      <a16:colId xmlns:a16="http://schemas.microsoft.com/office/drawing/2014/main" val="49805429"/>
                    </a:ext>
                  </a:extLst>
                </a:gridCol>
              </a:tblGrid>
              <a:tr h="29474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VMAT2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VMAT2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59391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(n=123)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938947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30859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6429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955916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42424"/>
                  </a:ext>
                </a:extLst>
              </a:tr>
              <a:tr h="7073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Elixhauser</a:t>
                      </a:r>
                      <a:r>
                        <a:rPr lang="en-US" sz="1200" dirty="0"/>
                        <a:t> Comorbidities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7882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76684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80540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4761"/>
                  </a:ext>
                </a:extLst>
              </a:tr>
              <a:tr h="7073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Pharmacologic Use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93506"/>
                  </a:ext>
                </a:extLst>
              </a:tr>
              <a:tr h="501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Baclofen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78839"/>
                  </a:ext>
                </a:extLst>
              </a:tr>
              <a:tr h="404658">
                <a:tc>
                  <a:txBody>
                    <a:bodyPr/>
                    <a:lstStyle/>
                    <a:p>
                      <a:r>
                        <a:rPr lang="en-US" sz="1200" dirty="0" err="1"/>
                        <a:t>Amatadine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81858"/>
                  </a:ext>
                </a:extLst>
              </a:tr>
              <a:tr h="294744">
                <a:tc>
                  <a:txBody>
                    <a:bodyPr/>
                    <a:lstStyle/>
                    <a:p>
                      <a:r>
                        <a:rPr lang="en-US" sz="1200" dirty="0" err="1"/>
                        <a:t>Halperidol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723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135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F2BC-3E28-F52D-94F8-C67EEEDA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92DE4-DF0B-83B0-FC75-EEAD58B35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meds, dx, </a:t>
            </a:r>
            <a:r>
              <a:rPr lang="en-US" dirty="0" err="1"/>
              <a:t>elix</a:t>
            </a:r>
            <a:r>
              <a:rPr lang="en-US" dirty="0"/>
              <a:t>, </a:t>
            </a:r>
          </a:p>
          <a:p>
            <a:r>
              <a:rPr lang="en-US" dirty="0"/>
              <a:t>Separate </a:t>
            </a:r>
            <a:r>
              <a:rPr lang="en-US" dirty="0" err="1"/>
              <a:t>dems</a:t>
            </a:r>
            <a:r>
              <a:rPr lang="en-US" dirty="0"/>
              <a:t> male, female, one age group</a:t>
            </a:r>
          </a:p>
          <a:p>
            <a:r>
              <a:rPr lang="en-US" dirty="0"/>
              <a:t>Change to site 1, site 2</a:t>
            </a:r>
          </a:p>
          <a:p>
            <a:endParaRPr lang="en-US" dirty="0"/>
          </a:p>
          <a:p>
            <a:r>
              <a:rPr lang="en-US" dirty="0"/>
              <a:t>Create plugin version for discovery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86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7B09-2678-5F9B-2970-120DE2EF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7333-B9C7-08DF-E5AE-D68DECA9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348" y="-22590"/>
            <a:ext cx="10515600" cy="614366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8533C-0235-47EA-CB9B-283F18D2B713}"/>
              </a:ext>
            </a:extLst>
          </p:cNvPr>
          <p:cNvSpPr txBox="1"/>
          <p:nvPr/>
        </p:nvSpPr>
        <p:spPr>
          <a:xfrm>
            <a:off x="3571614" y="2129354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FB42C-6149-5FFE-82DC-A485E3CBB9DD}"/>
              </a:ext>
            </a:extLst>
          </p:cNvPr>
          <p:cNvSpPr txBox="1"/>
          <p:nvPr/>
        </p:nvSpPr>
        <p:spPr>
          <a:xfrm>
            <a:off x="573348" y="1621522"/>
            <a:ext cx="2685472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Demographic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E1FF8-8483-9564-B5DD-F671835569AB}"/>
              </a:ext>
            </a:extLst>
          </p:cNvPr>
          <p:cNvSpPr txBox="1"/>
          <p:nvPr/>
        </p:nvSpPr>
        <p:spPr>
          <a:xfrm>
            <a:off x="3571614" y="1621522"/>
            <a:ext cx="24383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Demographic Custom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D8EDB-2643-F55F-C3E3-57A0FE6EB373}"/>
              </a:ext>
            </a:extLst>
          </p:cNvPr>
          <p:cNvSpPr txBox="1"/>
          <p:nvPr/>
        </p:nvSpPr>
        <p:spPr>
          <a:xfrm>
            <a:off x="573348" y="3240821"/>
            <a:ext cx="1382824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Charlson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94CE2-52AD-9516-EEC5-0A260193B3B9}"/>
              </a:ext>
            </a:extLst>
          </p:cNvPr>
          <p:cNvSpPr txBox="1"/>
          <p:nvPr/>
        </p:nvSpPr>
        <p:spPr>
          <a:xfrm>
            <a:off x="2141406" y="3212800"/>
            <a:ext cx="1382824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Elixhauser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2D941-AF29-5A26-17BE-E961599FAD92}"/>
              </a:ext>
            </a:extLst>
          </p:cNvPr>
          <p:cNvSpPr txBox="1"/>
          <p:nvPr/>
        </p:nvSpPr>
        <p:spPr>
          <a:xfrm>
            <a:off x="3687920" y="3212800"/>
            <a:ext cx="1641372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56791E-7227-42FF-EDAF-18B963DC04FF}"/>
              </a:ext>
            </a:extLst>
          </p:cNvPr>
          <p:cNvSpPr txBox="1"/>
          <p:nvPr/>
        </p:nvSpPr>
        <p:spPr>
          <a:xfrm>
            <a:off x="1996403" y="4359315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44386B-1255-E6DB-4AAB-7D7680596340}"/>
              </a:ext>
            </a:extLst>
          </p:cNvPr>
          <p:cNvSpPr txBox="1"/>
          <p:nvPr/>
        </p:nvSpPr>
        <p:spPr>
          <a:xfrm>
            <a:off x="573348" y="1120095"/>
            <a:ext cx="1959191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Number Columns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6834D1-0314-091A-3F1C-85CF45C36A32}"/>
              </a:ext>
            </a:extLst>
          </p:cNvPr>
          <p:cNvSpPr txBox="1"/>
          <p:nvPr/>
        </p:nvSpPr>
        <p:spPr>
          <a:xfrm>
            <a:off x="573348" y="4272648"/>
            <a:ext cx="1249125" cy="369332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289752-CB65-207A-6CE6-80E774CD5A91}"/>
              </a:ext>
            </a:extLst>
          </p:cNvPr>
          <p:cNvCxnSpPr/>
          <p:nvPr/>
        </p:nvCxnSpPr>
        <p:spPr>
          <a:xfrm>
            <a:off x="6119149" y="872740"/>
            <a:ext cx="0" cy="5474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14465A-FFC9-4F98-D497-84D3504C1342}"/>
              </a:ext>
            </a:extLst>
          </p:cNvPr>
          <p:cNvSpPr txBox="1"/>
          <p:nvPr/>
        </p:nvSpPr>
        <p:spPr>
          <a:xfrm>
            <a:off x="3939707" y="4363544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592B9-36BA-A56F-53C0-7424F7B5DD0C}"/>
              </a:ext>
            </a:extLst>
          </p:cNvPr>
          <p:cNvSpPr txBox="1"/>
          <p:nvPr/>
        </p:nvSpPr>
        <p:spPr>
          <a:xfrm>
            <a:off x="2832818" y="1106318"/>
            <a:ext cx="3080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DF1B2-38C9-4F4D-167E-0AE8BCA4CB11}"/>
              </a:ext>
            </a:extLst>
          </p:cNvPr>
          <p:cNvSpPr txBox="1"/>
          <p:nvPr/>
        </p:nvSpPr>
        <p:spPr>
          <a:xfrm>
            <a:off x="5598714" y="2129354"/>
            <a:ext cx="411298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70209AB-CFCF-AE10-F043-830A50B1F49B}"/>
              </a:ext>
            </a:extLst>
          </p:cNvPr>
          <p:cNvGrpSpPr/>
          <p:nvPr/>
        </p:nvGrpSpPr>
        <p:grpSpPr>
          <a:xfrm>
            <a:off x="6237053" y="1607269"/>
            <a:ext cx="3025923" cy="4955503"/>
            <a:chOff x="6703729" y="1613981"/>
            <a:chExt cx="3025923" cy="49555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7608C4-830B-B6F2-D6C9-5CCCB38A5617}"/>
                </a:ext>
              </a:extLst>
            </p:cNvPr>
            <p:cNvSpPr txBox="1"/>
            <p:nvPr/>
          </p:nvSpPr>
          <p:spPr>
            <a:xfrm>
              <a:off x="6736743" y="1613981"/>
              <a:ext cx="2438398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Demographic Label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5E0EAE-5EBB-79D3-B7D2-DB4F69603638}"/>
                </a:ext>
              </a:extLst>
            </p:cNvPr>
            <p:cNvSpPr txBox="1"/>
            <p:nvPr/>
          </p:nvSpPr>
          <p:spPr>
            <a:xfrm>
              <a:off x="6736743" y="2314020"/>
              <a:ext cx="2438398" cy="646331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Demographic Breakdown csv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4CD5ED-ABE3-FFA9-7D14-3830D8F3A8BC}"/>
                </a:ext>
              </a:extLst>
            </p:cNvPr>
            <p:cNvSpPr txBox="1"/>
            <p:nvPr/>
          </p:nvSpPr>
          <p:spPr>
            <a:xfrm>
              <a:off x="6736743" y="3212800"/>
              <a:ext cx="2438398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Elixhauser</a:t>
              </a:r>
              <a:r>
                <a:rPr lang="en-US" dirty="0"/>
                <a:t> Label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CD42D3-07EE-38FA-D856-C628B1E23A44}"/>
                </a:ext>
              </a:extLst>
            </p:cNvPr>
            <p:cNvSpPr txBox="1"/>
            <p:nvPr/>
          </p:nvSpPr>
          <p:spPr>
            <a:xfrm>
              <a:off x="6736743" y="3912839"/>
              <a:ext cx="2438398" cy="646331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</a:t>
              </a:r>
              <a:r>
                <a:rPr lang="en-US" dirty="0" err="1"/>
                <a:t>Elixhauser</a:t>
              </a:r>
              <a:r>
                <a:rPr lang="en-US" dirty="0"/>
                <a:t> Breakdown csv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CA2F0C0-4D21-9E01-9612-7CECBF553038}"/>
                </a:ext>
              </a:extLst>
            </p:cNvPr>
            <p:cNvSpPr txBox="1"/>
            <p:nvPr/>
          </p:nvSpPr>
          <p:spPr>
            <a:xfrm>
              <a:off x="6703729" y="4774075"/>
              <a:ext cx="2438398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Group 1 Label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4521A1-414F-CBAB-A8C1-BA295110D868}"/>
                </a:ext>
              </a:extLst>
            </p:cNvPr>
            <p:cNvSpPr txBox="1"/>
            <p:nvPr/>
          </p:nvSpPr>
          <p:spPr>
            <a:xfrm>
              <a:off x="6714069" y="5373410"/>
              <a:ext cx="2992909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Group 1 Variable 1 csv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CBF55E4-23CD-88E6-5E51-BB7EFC95321C}"/>
                </a:ext>
              </a:extLst>
            </p:cNvPr>
            <p:cNvSpPr txBox="1"/>
            <p:nvPr/>
          </p:nvSpPr>
          <p:spPr>
            <a:xfrm>
              <a:off x="6736743" y="5783382"/>
              <a:ext cx="2992909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Group 1 Variable 2 csv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0C4752-1858-78E7-6BD2-0DC18C9214C2}"/>
                </a:ext>
              </a:extLst>
            </p:cNvPr>
            <p:cNvSpPr txBox="1"/>
            <p:nvPr/>
          </p:nvSpPr>
          <p:spPr>
            <a:xfrm>
              <a:off x="6714069" y="6200152"/>
              <a:ext cx="2992909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Group 1 Variable 3 csv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318D25-2374-63DD-DF06-87A645AFAD70}"/>
              </a:ext>
            </a:extLst>
          </p:cNvPr>
          <p:cNvGrpSpPr/>
          <p:nvPr/>
        </p:nvGrpSpPr>
        <p:grpSpPr>
          <a:xfrm>
            <a:off x="9487934" y="1621522"/>
            <a:ext cx="3154161" cy="4955503"/>
            <a:chOff x="9487934" y="1621522"/>
            <a:chExt cx="3154161" cy="495550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74EFC6-2A07-2A5A-A7CD-78FE08E2DD64}"/>
                </a:ext>
              </a:extLst>
            </p:cNvPr>
            <p:cNvSpPr txBox="1"/>
            <p:nvPr/>
          </p:nvSpPr>
          <p:spPr>
            <a:xfrm>
              <a:off x="9520948" y="1621522"/>
              <a:ext cx="2438398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Demographic Label 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38B568-80D6-C531-5ECE-6220AD4DC87E}"/>
                </a:ext>
              </a:extLst>
            </p:cNvPr>
            <p:cNvSpPr txBox="1"/>
            <p:nvPr/>
          </p:nvSpPr>
          <p:spPr>
            <a:xfrm>
              <a:off x="9520948" y="2321561"/>
              <a:ext cx="2438398" cy="646331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Demographic Breakdown csv 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B8B9867-D52E-25B7-D061-AB6BADC553B7}"/>
                </a:ext>
              </a:extLst>
            </p:cNvPr>
            <p:cNvSpPr txBox="1"/>
            <p:nvPr/>
          </p:nvSpPr>
          <p:spPr>
            <a:xfrm>
              <a:off x="9520948" y="3220341"/>
              <a:ext cx="2438398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Elixhauser</a:t>
              </a:r>
              <a:r>
                <a:rPr lang="en-US" dirty="0"/>
                <a:t> Label 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A48674-2A45-5FCB-4848-50364610C19C}"/>
                </a:ext>
              </a:extLst>
            </p:cNvPr>
            <p:cNvSpPr txBox="1"/>
            <p:nvPr/>
          </p:nvSpPr>
          <p:spPr>
            <a:xfrm>
              <a:off x="9520948" y="3920380"/>
              <a:ext cx="2438398" cy="646331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</a:t>
              </a:r>
              <a:r>
                <a:rPr lang="en-US" dirty="0" err="1"/>
                <a:t>Elixhauser</a:t>
              </a:r>
              <a:r>
                <a:rPr lang="en-US" dirty="0"/>
                <a:t> Breakdown csv 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171B91-31ED-9FE9-B737-CC4B4F7A9718}"/>
                </a:ext>
              </a:extLst>
            </p:cNvPr>
            <p:cNvSpPr txBox="1"/>
            <p:nvPr/>
          </p:nvSpPr>
          <p:spPr>
            <a:xfrm>
              <a:off x="9487934" y="4781616"/>
              <a:ext cx="2438398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Group 1 Label 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DBE1FF2-67F3-B571-A229-67D163F42E77}"/>
                </a:ext>
              </a:extLst>
            </p:cNvPr>
            <p:cNvSpPr txBox="1"/>
            <p:nvPr/>
          </p:nvSpPr>
          <p:spPr>
            <a:xfrm>
              <a:off x="9498274" y="5380951"/>
              <a:ext cx="3143821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Group 1 Variable 1 csv 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BC946F-0D26-1B49-7952-0B0A7B2169D1}"/>
                </a:ext>
              </a:extLst>
            </p:cNvPr>
            <p:cNvSpPr txBox="1"/>
            <p:nvPr/>
          </p:nvSpPr>
          <p:spPr>
            <a:xfrm>
              <a:off x="9520948" y="5790923"/>
              <a:ext cx="3121144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Group 1 Variable 2 csv 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320579-CE74-ADF8-B552-A1CF1B11DDA7}"/>
                </a:ext>
              </a:extLst>
            </p:cNvPr>
            <p:cNvSpPr txBox="1"/>
            <p:nvPr/>
          </p:nvSpPr>
          <p:spPr>
            <a:xfrm>
              <a:off x="9498274" y="6207693"/>
              <a:ext cx="3121144" cy="369332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Drop Group 1 Variable 3 csv 2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85B04ED-006F-2B4F-9F12-A17845A798CE}"/>
              </a:ext>
            </a:extLst>
          </p:cNvPr>
          <p:cNvSpPr txBox="1"/>
          <p:nvPr/>
        </p:nvSpPr>
        <p:spPr>
          <a:xfrm>
            <a:off x="1996403" y="5003178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4A28E4-422E-7A5A-5B21-BA3FC41521E5}"/>
              </a:ext>
            </a:extLst>
          </p:cNvPr>
          <p:cNvSpPr txBox="1"/>
          <p:nvPr/>
        </p:nvSpPr>
        <p:spPr>
          <a:xfrm>
            <a:off x="573348" y="4916511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Add Group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534EE6-3BE8-27B0-B387-7B38BF63AB84}"/>
              </a:ext>
            </a:extLst>
          </p:cNvPr>
          <p:cNvSpPr txBox="1"/>
          <p:nvPr/>
        </p:nvSpPr>
        <p:spPr>
          <a:xfrm>
            <a:off x="3939707" y="5007407"/>
            <a:ext cx="277640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4ED571-C52C-D61E-2F76-2EBA36FEC28C}"/>
              </a:ext>
            </a:extLst>
          </p:cNvPr>
          <p:cNvSpPr txBox="1"/>
          <p:nvPr/>
        </p:nvSpPr>
        <p:spPr>
          <a:xfrm>
            <a:off x="1996403" y="5647041"/>
            <a:ext cx="181806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Number of CSVs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52882F-0172-AE45-2F1B-05242A792130}"/>
              </a:ext>
            </a:extLst>
          </p:cNvPr>
          <p:cNvSpPr txBox="1"/>
          <p:nvPr/>
        </p:nvSpPr>
        <p:spPr>
          <a:xfrm>
            <a:off x="573348" y="5560374"/>
            <a:ext cx="1249125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Add Group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5FC76D-4A1A-5C75-8D05-26D2C195DF7E}"/>
              </a:ext>
            </a:extLst>
          </p:cNvPr>
          <p:cNvSpPr txBox="1"/>
          <p:nvPr/>
        </p:nvSpPr>
        <p:spPr>
          <a:xfrm>
            <a:off x="3939707" y="5651270"/>
            <a:ext cx="277640" cy="3693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40318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BEDA-828F-B182-2864-0E5D20C8A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Nih</a:t>
            </a:r>
            <a:r>
              <a:rPr lang="en-US" dirty="0"/>
              <a:t> enrollment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3D732-3EE4-4691-63AA-D50D6C4A5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79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E70B-13B6-A900-56C6-8C8F671D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BD5C9-A190-874B-3078-C1799528D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Male</a:t>
            </a:r>
          </a:p>
          <a:p>
            <a:r>
              <a:rPr lang="en-US" dirty="0"/>
              <a:t>Female</a:t>
            </a:r>
          </a:p>
          <a:p>
            <a:r>
              <a:rPr lang="en-US" dirty="0"/>
              <a:t>Cohort query 1</a:t>
            </a:r>
          </a:p>
          <a:p>
            <a:r>
              <a:rPr lang="en-US" dirty="0"/>
              <a:t>Cohort query 2</a:t>
            </a:r>
          </a:p>
          <a:p>
            <a:r>
              <a:rPr lang="en-US" dirty="0"/>
              <a:t>Cohort query 3</a:t>
            </a:r>
          </a:p>
          <a:p>
            <a:r>
              <a:rPr lang="en-US" dirty="0"/>
              <a:t>Merge / purge sites that </a:t>
            </a:r>
          </a:p>
          <a:p>
            <a:r>
              <a:rPr lang="en-US" dirty="0"/>
              <a:t>Give percentage representation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383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3F5E-A592-BB3E-4800-B96CF856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C0D22-714F-8EBA-E891-BCCD36C05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8934</TotalTime>
  <Words>1138</Words>
  <Application>Microsoft Office PowerPoint</Application>
  <PresentationFormat>Widescreen</PresentationFormat>
  <Paragraphs>438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Two by two</vt:lpstr>
      <vt:lpstr>Table one builder – manual demographics</vt:lpstr>
      <vt:lpstr>Table one builder – using breakdowns</vt:lpstr>
      <vt:lpstr>Table one builder</vt:lpstr>
      <vt:lpstr>Table one</vt:lpstr>
      <vt:lpstr>Table one</vt:lpstr>
      <vt:lpstr>Table one</vt:lpstr>
      <vt:lpstr>Table one</vt:lpstr>
      <vt:lpstr>Table one</vt:lpstr>
      <vt:lpstr>Table one</vt:lpstr>
      <vt:lpstr>Table one builder</vt:lpstr>
      <vt:lpstr>Table one builder</vt:lpstr>
      <vt:lpstr>Table one builder</vt:lpstr>
      <vt:lpstr>Table one builder</vt:lpstr>
      <vt:lpstr>Table one screen 3</vt:lpstr>
      <vt:lpstr>Table one</vt:lpstr>
      <vt:lpstr>PowerPoint Presentation</vt:lpstr>
      <vt:lpstr>Table one</vt:lpstr>
      <vt:lpstr>Nih enrollment</vt:lpstr>
      <vt:lpstr>Result clean 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Morris, Michele</dc:creator>
  <cp:lastModifiedBy>Morris, Michele</cp:lastModifiedBy>
  <cp:revision>11</cp:revision>
  <dcterms:created xsi:type="dcterms:W3CDTF">2024-11-07T13:23:15Z</dcterms:created>
  <dcterms:modified xsi:type="dcterms:W3CDTF">2026-03-28T21:26:21Z</dcterms:modified>
</cp:coreProperties>
</file>